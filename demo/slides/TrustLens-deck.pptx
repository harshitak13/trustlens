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We picked Problem Statement 1, Trust Nothing. Our tool is TrustLens: it checks whether a package actually does what its README says, before you install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a package runs someone else’s code on your machine. Supply-chain attacks like typosquatting, dependency confusion and malicious install scripts work because developers cannot quickly tell whether a package behaves differently from what it claims. Existing scanners look for known-bad signatures, so new attacks slip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matching signatures, we fingerprint behaviour and compare it with what the package itself claims. So a brand-new attack is caught as long as it does something its README does not mention. We also run every package five ways to catch code that only misbehaves on build servers or on a certain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We download the package and its dependencies without running anything. We read the README into a list of promises. Then we install and run it inside a sealed Docker sandbox with no internet, none of your files and no admin rights, while a small hook inside Node or Python logs every connection, file, environment variable and program. That log is the behavioural fingerprint, and we compare it line by line with the promises. All of this happens five times with different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90-second video or click through the live app. Our test cases are harmless packages built to behave like real attacks. Highlight ci-sleeper: it looks clean in a normal run, but only when it thinks it is on a CI server does it call home, and its README says no network access. Organiser test cases can be uploaded as a .zip/.tgz/.whl or typed as npm:name@version.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attack-style test package was flagged with the right reason, including one that only misbehaves in CI and one that hides in CI. Nine real popular packages came back clean or minor, so no false alarms. A scan takes about a minute. Limits: we only see inside Node and Python, we cannot see payload contents because there is no network, runs are short, and README reading is rule-based.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would add system-level tracing for native code, a safe fake internet to see payloads, an LLM pass to read READMEs better, and a pre-install guard for CI. The code is on GitHub at [link].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L_CONTENT">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7223760" y="201168"/>
            <a:ext cx="1463040" cy="274320"/>
          </a:xfrm>
          <a:prstGeom prst="rect">
            <a:avLst/>
          </a:prstGeom>
          <a:noFill/>
          <a:ln/>
        </p:spPr>
        <p:txBody>
          <a:bodyPr wrap="square" lIns="0" tIns="0" rIns="0" bIns="0" rtlCol="0" anchor="ctr"/>
          <a:lstStyle/>
          <a:p>
            <a:pPr algn="r" indent="0" marL="0">
              <a:buNone/>
            </a:pPr>
            <a:r>
              <a:rPr lang="en-US" sz="1000" b="1" dirty="0">
                <a:solidFill>
                  <a:srgbClr val="D9502B"/>
                </a:solidFill>
                <a:latin typeface="Montserrat" pitchFamily="34" charset="0"/>
                <a:ea typeface="Montserrat" pitchFamily="34" charset="-122"/>
                <a:cs typeface="Montserrat" pitchFamily="34" charset="-120"/>
              </a:rPr>
              <a:t>TrustLens</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ube"/>
          <p:cNvSpPr/>
          <p:nvPr/>
        </p:nvSpPr>
        <p:spPr>
          <a:xfrm rot="5400000">
            <a:off x="6400800" y="2377440"/>
            <a:ext cx="822960" cy="715975"/>
          </a:xfrm>
          <a:prstGeom prst="hexagon">
            <a:avLst/>
          </a:prstGeom>
          <a:ln w="9525">
            <a:solidFill>
              <a:srgbClr val="EFD8C9"/>
            </a:solidFill>
            <a:prstDash val="solid"/>
          </a:ln>
        </p:spPr>
      </p:sp>
      <p:sp>
        <p:nvSpPr>
          <p:cNvPr id="3" name="cube"/>
          <p:cNvSpPr/>
          <p:nvPr/>
        </p:nvSpPr>
        <p:spPr>
          <a:xfrm rot="5400000">
            <a:off x="7116775" y="2788920"/>
            <a:ext cx="822960" cy="715975"/>
          </a:xfrm>
          <a:prstGeom prst="hexagon">
            <a:avLst/>
          </a:prstGeom>
          <a:ln w="9525">
            <a:solidFill>
              <a:srgbClr val="EFD8C9"/>
            </a:solidFill>
            <a:prstDash val="solid"/>
          </a:ln>
        </p:spPr>
      </p:sp>
      <p:sp>
        <p:nvSpPr>
          <p:cNvPr id="4" name="cube"/>
          <p:cNvSpPr/>
          <p:nvPr/>
        </p:nvSpPr>
        <p:spPr>
          <a:xfrm rot="5400000">
            <a:off x="6400800" y="3200400"/>
            <a:ext cx="822960" cy="715975"/>
          </a:xfrm>
          <a:prstGeom prst="hexagon">
            <a:avLst/>
          </a:prstGeom>
          <a:ln w="9525">
            <a:solidFill>
              <a:srgbClr val="EFD8C9"/>
            </a:solidFill>
            <a:prstDash val="solid"/>
          </a:ln>
        </p:spPr>
      </p:sp>
      <p:sp>
        <p:nvSpPr>
          <p:cNvPr id="5" name="cube"/>
          <p:cNvSpPr/>
          <p:nvPr/>
        </p:nvSpPr>
        <p:spPr>
          <a:xfrm rot="5400000">
            <a:off x="7116775" y="3611880"/>
            <a:ext cx="822960" cy="715975"/>
          </a:xfrm>
          <a:prstGeom prst="hexagon">
            <a:avLst/>
          </a:prstGeom>
          <a:ln w="9525">
            <a:solidFill>
              <a:srgbClr val="EFD8C9"/>
            </a:solidFill>
            <a:prstDash val="solid"/>
          </a:ln>
        </p:spPr>
      </p:sp>
      <p:sp>
        <p:nvSpPr>
          <p:cNvPr id="6" name="Text 4"/>
          <p:cNvSpPr txBox="1"/>
          <p:nvPr/>
        </p:nvSpPr>
        <p:spPr>
          <a:xfrm>
            <a:off x="457200" y="1143000"/>
            <a:ext cx="7315200" cy="1005840"/>
          </a:xfrm>
          <a:prstGeom prst="rect">
            <a:avLst/>
          </a:prstGeom>
          <a:noFill/>
          <a:ln/>
        </p:spPr>
        <p:txBody>
          <a:bodyPr wrap="square" lIns="0" tIns="0" rIns="0" bIns="0" rtlCol="0" anchor="ctr"/>
          <a:lstStyle/>
          <a:p>
            <a:pPr indent="0" marL="0">
              <a:buNone/>
            </a:pPr>
            <a:r>
              <a:rPr lang="en-US" sz="6000" b="1" dirty="0">
                <a:solidFill>
                  <a:srgbClr val="D9502B"/>
                </a:solidFill>
                <a:latin typeface="Montserrat" pitchFamily="34" charset="0"/>
                <a:ea typeface="Montserrat" pitchFamily="34" charset="-122"/>
                <a:cs typeface="Montserrat" pitchFamily="34" charset="-120"/>
              </a:rPr>
              <a:t>TRUSTLENS.</a:t>
            </a:r>
            <a:endParaRPr lang="en-US" sz="6000" dirty="0"/>
          </a:p>
        </p:txBody>
      </p:sp>
      <p:sp>
        <p:nvSpPr>
          <p:cNvPr id="7" name="Text 5"/>
          <p:cNvSpPr txBox="1"/>
          <p:nvPr/>
        </p:nvSpPr>
        <p:spPr>
          <a:xfrm>
            <a:off x="457200" y="2148840"/>
            <a:ext cx="6400800" cy="411480"/>
          </a:xfrm>
          <a:prstGeom prst="rect">
            <a:avLst/>
          </a:prstGeom>
          <a:noFill/>
          <a:ln/>
        </p:spPr>
        <p:txBody>
          <a:bodyPr wrap="square" lIns="0" tIns="0" rIns="0" bIns="0" rtlCol="0" anchor="ctr"/>
          <a:lstStyle/>
          <a:p>
            <a:pPr indent="0" marL="0">
              <a:buNone/>
            </a:pPr>
            <a:r>
              <a:rPr lang="en-US" sz="1800" dirty="0">
                <a:solidFill>
                  <a:srgbClr val="2B2118"/>
                </a:solidFill>
                <a:latin typeface="Arial" pitchFamily="34" charset="0"/>
                <a:ea typeface="Arial" pitchFamily="34" charset="-122"/>
                <a:cs typeface="Arial" pitchFamily="34" charset="-120"/>
              </a:rPr>
              <a:t>Does a package do what it says it does?</a:t>
            </a:r>
            <a:endParaRPr lang="en-US" sz="1800" dirty="0"/>
          </a:p>
        </p:txBody>
      </p:sp>
      <p:sp>
        <p:nvSpPr>
          <p:cNvPr id="8" name="Text 6"/>
          <p:cNvSpPr txBox="1"/>
          <p:nvPr/>
        </p:nvSpPr>
        <p:spPr>
          <a:xfrm>
            <a:off x="457200" y="3063240"/>
            <a:ext cx="5760720" cy="502920"/>
          </a:xfrm>
          <a:prstGeom prst="rect">
            <a:avLst/>
          </a:prstGeom>
          <a:noFill/>
          <a:ln/>
        </p:spPr>
        <p:txBody>
          <a:bodyPr wrap="square" lIns="0" tIns="0" rIns="0" bIns="0" rtlCol="0" anchor="t"/>
          <a:lstStyle/>
          <a:p>
            <a:pPr indent="0" marL="0">
              <a:buNone/>
            </a:pPr>
            <a:r>
              <a:rPr lang="en-US" sz="1000" dirty="0">
                <a:solidFill>
                  <a:srgbClr val="74665A"/>
                </a:solidFill>
                <a:latin typeface="Arial" pitchFamily="34" charset="0"/>
                <a:ea typeface="Arial" pitchFamily="34" charset="-122"/>
                <a:cs typeface="Arial" pitchFamily="34" charset="-120"/>
              </a:rPr>
              <a:t>Problem statement</a:t>
            </a:r>
            <a:endParaRPr lang="en-US" sz="1000" dirty="0"/>
          </a:p>
          <a:p>
            <a:pPr indent="0" marL="0">
              <a:buNone/>
            </a:pPr>
            <a:r>
              <a:rPr lang="en-US" sz="1300" b="1" dirty="0">
                <a:solidFill>
                  <a:srgbClr val="D9502B"/>
                </a:solidFill>
                <a:latin typeface="Arial" pitchFamily="34" charset="0"/>
                <a:ea typeface="Arial" pitchFamily="34" charset="-122"/>
                <a:cs typeface="Arial" pitchFamily="34" charset="-120"/>
              </a:rPr>
              <a:t>PS 1: Trust Nothing, Provenance for Your Own Dependencies</a:t>
            </a:r>
            <a:endParaRPr lang="en-US" sz="1000" dirty="0"/>
          </a:p>
        </p:txBody>
      </p:sp>
      <p:sp>
        <p:nvSpPr>
          <p:cNvPr id="9" name="Text 7"/>
          <p:cNvSpPr txBox="1"/>
          <p:nvPr/>
        </p:nvSpPr>
        <p:spPr>
          <a:xfrm>
            <a:off x="457200" y="3630168"/>
            <a:ext cx="5760720" cy="502920"/>
          </a:xfrm>
          <a:prstGeom prst="rect">
            <a:avLst/>
          </a:prstGeom>
          <a:noFill/>
          <a:ln/>
        </p:spPr>
        <p:txBody>
          <a:bodyPr wrap="square" lIns="0" tIns="0" rIns="0" bIns="0" rtlCol="0" anchor="t"/>
          <a:lstStyle/>
          <a:p>
            <a:pPr indent="0" marL="0">
              <a:buNone/>
            </a:pPr>
            <a:r>
              <a:rPr lang="en-US" sz="1000" dirty="0">
                <a:solidFill>
                  <a:srgbClr val="74665A"/>
                </a:solidFill>
                <a:latin typeface="Arial" pitchFamily="34" charset="0"/>
                <a:ea typeface="Arial" pitchFamily="34" charset="-122"/>
                <a:cs typeface="Arial" pitchFamily="34" charset="-120"/>
              </a:rPr>
              <a:t>Team</a:t>
            </a:r>
            <a:endParaRPr lang="en-US" sz="1000" dirty="0"/>
          </a:p>
          <a:p>
            <a:pPr indent="0" marL="0">
              <a:buNone/>
            </a:pPr>
            <a:r>
              <a:rPr lang="en-US" sz="1300" b="1" dirty="0">
                <a:solidFill>
                  <a:srgbClr val="D9502B"/>
                </a:solidFill>
                <a:latin typeface="Arial" pitchFamily="34" charset="0"/>
                <a:ea typeface="Arial" pitchFamily="34" charset="-122"/>
                <a:cs typeface="Arial" pitchFamily="34" charset="-120"/>
              </a:rPr>
              <a:t>[Team name]</a:t>
            </a:r>
            <a:endParaRPr lang="en-US" sz="1000" dirty="0"/>
          </a:p>
        </p:txBody>
      </p:sp>
      <p:sp>
        <p:nvSpPr>
          <p:cNvPr id="10" name="Text 8"/>
          <p:cNvSpPr txBox="1"/>
          <p:nvPr/>
        </p:nvSpPr>
        <p:spPr>
          <a:xfrm>
            <a:off x="457200" y="4197096"/>
            <a:ext cx="5760720" cy="502920"/>
          </a:xfrm>
          <a:prstGeom prst="rect">
            <a:avLst/>
          </a:prstGeom>
          <a:noFill/>
          <a:ln/>
        </p:spPr>
        <p:txBody>
          <a:bodyPr wrap="square" lIns="0" tIns="0" rIns="0" bIns="0" rtlCol="0" anchor="t"/>
          <a:lstStyle/>
          <a:p>
            <a:pPr indent="0" marL="0">
              <a:buNone/>
            </a:pPr>
            <a:r>
              <a:rPr lang="en-US" sz="1000" dirty="0">
                <a:solidFill>
                  <a:srgbClr val="74665A"/>
                </a:solidFill>
                <a:latin typeface="Arial" pitchFamily="34" charset="0"/>
                <a:ea typeface="Arial" pitchFamily="34" charset="-122"/>
                <a:cs typeface="Arial" pitchFamily="34" charset="-120"/>
              </a:rPr>
              <a:t>Members</a:t>
            </a:r>
            <a:endParaRPr lang="en-US" sz="1000" dirty="0"/>
          </a:p>
          <a:p>
            <a:pPr indent="0" marL="0">
              <a:buNone/>
            </a:pPr>
            <a:r>
              <a:rPr lang="en-US" sz="1300" b="1" dirty="0">
                <a:solidFill>
                  <a:srgbClr val="D9502B"/>
                </a:solidFill>
                <a:latin typeface="Arial" pitchFamily="34" charset="0"/>
                <a:ea typeface="Arial" pitchFamily="34" charset="-122"/>
                <a:cs typeface="Arial" pitchFamily="34" charset="-120"/>
              </a:rPr>
              <a:t>[Member 1, Member 2, Member 3]</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502920"/>
            <a:ext cx="8229600" cy="685800"/>
          </a:xfrm>
          <a:prstGeom prst="rect">
            <a:avLst/>
          </a:prstGeom>
          <a:noFill/>
          <a:ln/>
        </p:spPr>
        <p:txBody>
          <a:bodyPr wrap="square" lIns="0" tIns="0" rIns="0" bIns="0" rtlCol="0" anchor="ctr"/>
          <a:lstStyle/>
          <a:p>
            <a:pPr indent="0" marL="0">
              <a:buNone/>
            </a:pPr>
            <a:r>
              <a:rPr lang="en-US" sz="3200" b="1" dirty="0">
                <a:solidFill>
                  <a:srgbClr val="D9502B"/>
                </a:solidFill>
                <a:latin typeface="Montserrat" pitchFamily="34" charset="0"/>
                <a:ea typeface="Montserrat" pitchFamily="34" charset="-122"/>
                <a:cs typeface="Montserrat" pitchFamily="34" charset="-120"/>
              </a:rPr>
              <a:t>THE PROBLEM.</a:t>
            </a:r>
            <a:endParaRPr lang="en-US" sz="3200" dirty="0"/>
          </a:p>
        </p:txBody>
      </p:sp>
      <p:sp>
        <p:nvSpPr>
          <p:cNvPr id="3" name="Text 1"/>
          <p:cNvSpPr txBox="1"/>
          <p:nvPr/>
        </p:nvSpPr>
        <p:spPr>
          <a:xfrm>
            <a:off x="457200" y="1280160"/>
            <a:ext cx="3931920" cy="1005840"/>
          </a:xfrm>
          <a:prstGeom prst="rect">
            <a:avLst/>
          </a:prstGeom>
          <a:noFill/>
          <a:ln/>
        </p:spPr>
        <p:txBody>
          <a:bodyPr wrap="square" lIns="0" tIns="0" rIns="0" bIns="0" rtlCol="0" anchor="t"/>
          <a:lstStyle/>
          <a:p>
            <a:pPr indent="0" marL="0">
              <a:buNone/>
            </a:pPr>
            <a:r>
              <a:rPr lang="en-US" sz="2000" b="1" dirty="0">
                <a:solidFill>
                  <a:srgbClr val="2B2118"/>
                </a:solidFill>
                <a:latin typeface="Arial" pitchFamily="34" charset="0"/>
                <a:ea typeface="Arial" pitchFamily="34" charset="-122"/>
                <a:cs typeface="Arial" pitchFamily="34" charset="-120"/>
              </a:rPr>
              <a:t>npm install = running a stranger’s code.</a:t>
            </a:r>
            <a:endParaRPr lang="en-US" sz="2000" dirty="0"/>
          </a:p>
          <a:p>
            <a:pPr indent="0" marL="0">
              <a:buNone/>
            </a:pPr>
            <a:r>
              <a:rPr lang="en-US" sz="1500" dirty="0">
                <a:solidFill>
                  <a:srgbClr val="74665A"/>
                </a:solidFill>
                <a:latin typeface="Arial" pitchFamily="34" charset="0"/>
                <a:ea typeface="Arial" pitchFamily="34" charset="-122"/>
                <a:cs typeface="Arial" pitchFamily="34" charset="-120"/>
              </a:rPr>
              <a:t>You trust the README. Attackers know that.</a:t>
            </a:r>
            <a:endParaRPr lang="en-US" sz="2000" dirty="0"/>
          </a:p>
        </p:txBody>
      </p:sp>
      <p:sp>
        <p:nvSpPr>
          <p:cNvPr id="4" name="Text 2"/>
          <p:cNvSpPr txBox="1"/>
          <p:nvPr/>
        </p:nvSpPr>
        <p:spPr>
          <a:xfrm>
            <a:off x="457200" y="2514600"/>
            <a:ext cx="3931920" cy="822960"/>
          </a:xfrm>
          <a:prstGeom prst="rect">
            <a:avLst/>
          </a:prstGeom>
          <a:noFill/>
          <a:ln/>
        </p:spPr>
        <p:txBody>
          <a:bodyPr wrap="square" lIns="0" tIns="0" rIns="0" bIns="0" rtlCol="0" anchor="t"/>
          <a:lstStyle/>
          <a:p>
            <a:pPr indent="0" marL="0">
              <a:buNone/>
            </a:pPr>
            <a:r>
              <a:rPr lang="en-US" sz="1500" dirty="0">
                <a:solidFill>
                  <a:srgbClr val="2B2118"/>
                </a:solidFill>
                <a:latin typeface="Arial" pitchFamily="34" charset="0"/>
                <a:ea typeface="Arial" pitchFamily="34" charset="-122"/>
                <a:cs typeface="Arial" pitchFamily="34" charset="-120"/>
              </a:rPr>
              <a:t>Today’s scanners match known-bad signatures, so a </a:t>
            </a:r>
            <a:pPr indent="0" marL="0">
              <a:buNone/>
            </a:pPr>
            <a:r>
              <a:rPr lang="en-US" sz="1500" b="1" dirty="0">
                <a:solidFill>
                  <a:srgbClr val="D9502B"/>
                </a:solidFill>
                <a:latin typeface="Arial" pitchFamily="34" charset="0"/>
                <a:ea typeface="Arial" pitchFamily="34" charset="-122"/>
                <a:cs typeface="Arial" pitchFamily="34" charset="-120"/>
              </a:rPr>
              <a:t>brand-new</a:t>
            </a:r>
            <a:pPr indent="0" marL="0">
              <a:buNone/>
            </a:pPr>
            <a:r>
              <a:rPr lang="en-US" sz="1500" dirty="0">
                <a:solidFill>
                  <a:srgbClr val="2B2118"/>
                </a:solidFill>
                <a:latin typeface="Arial" pitchFamily="34" charset="0"/>
                <a:ea typeface="Arial" pitchFamily="34" charset="-122"/>
                <a:cs typeface="Arial" pitchFamily="34" charset="-120"/>
              </a:rPr>
              <a:t> malicious package gets through.</a:t>
            </a:r>
            <a:endParaRPr lang="en-US" sz="1500" dirty="0"/>
          </a:p>
        </p:txBody>
      </p:sp>
      <p:sp>
        <p:nvSpPr>
          <p:cNvPr id="5" name="Text 3"/>
          <p:cNvSpPr txBox="1"/>
          <p:nvPr/>
        </p:nvSpPr>
        <p:spPr>
          <a:xfrm>
            <a:off x="457200" y="3520440"/>
            <a:ext cx="3931920" cy="822960"/>
          </a:xfrm>
          <a:prstGeom prst="rect">
            <a:avLst/>
          </a:prstGeom>
          <a:noFill/>
          <a:ln/>
        </p:spPr>
        <p:txBody>
          <a:bodyPr wrap="square" lIns="0" tIns="0" rIns="0" bIns="0" rtlCol="0" anchor="t"/>
          <a:lstStyle/>
          <a:p>
            <a:pPr indent="0" marL="0">
              <a:buNone/>
            </a:pPr>
            <a:r>
              <a:rPr lang="en-US" sz="1200" dirty="0">
                <a:solidFill>
                  <a:srgbClr val="74665A"/>
                </a:solidFill>
                <a:latin typeface="Arial" pitchFamily="34" charset="0"/>
                <a:ea typeface="Arial" pitchFamily="34" charset="-122"/>
                <a:cs typeface="Arial" pitchFamily="34" charset="-120"/>
              </a:rPr>
              <a:t>Real cases: event-stream (2018) stole crypto wallets; ua-parser-js (2021) installed a miner and password stealer through an install script.</a:t>
            </a:r>
            <a:endParaRPr lang="en-US" sz="1200" dirty="0"/>
          </a:p>
        </p:txBody>
      </p:sp>
      <p:sp>
        <p:nvSpPr>
          <p:cNvPr id="6" name="card"/>
          <p:cNvSpPr/>
          <p:nvPr/>
        </p:nvSpPr>
        <p:spPr>
          <a:xfrm>
            <a:off x="4846320" y="1280160"/>
            <a:ext cx="3840480" cy="841248"/>
          </a:xfrm>
          <a:prstGeom prst="roundRect">
            <a:avLst>
              <a:gd name="adj" fmla="val 8696"/>
            </a:avLst>
          </a:prstGeom>
          <a:solidFill>
            <a:srgbClr val="FFFFFF"/>
          </a:solidFill>
          <a:ln w="9525">
            <a:solidFill>
              <a:srgbClr val="EADCCB"/>
            </a:solidFill>
            <a:prstDash val="solid"/>
          </a:ln>
        </p:spPr>
      </p:sp>
      <p:sp>
        <p:nvSpPr>
          <p:cNvPr id="7" name="Shape 5"/>
          <p:cNvSpPr/>
          <p:nvPr/>
        </p:nvSpPr>
        <p:spPr>
          <a:xfrm>
            <a:off x="5029200" y="1508760"/>
            <a:ext cx="384048" cy="384048"/>
          </a:xfrm>
          <a:prstGeom prst="ellipse">
            <a:avLst/>
          </a:prstGeom>
          <a:solidFill>
            <a:srgbClr val="D9502B"/>
          </a:solidFill>
          <a:ln w="12700">
            <a:solidFill>
              <a:srgbClr val="D9502B"/>
            </a:solidFill>
            <a:prstDash val="solid"/>
          </a:ln>
        </p:spPr>
      </p:sp>
      <p:sp>
        <p:nvSpPr>
          <p:cNvPr id="8" name="Text 6"/>
          <p:cNvSpPr txBox="1"/>
          <p:nvPr/>
        </p:nvSpPr>
        <p:spPr>
          <a:xfrm>
            <a:off x="502920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9" name="Text 7"/>
          <p:cNvSpPr txBox="1"/>
          <p:nvPr/>
        </p:nvSpPr>
        <p:spPr>
          <a:xfrm>
            <a:off x="5577840" y="1389888"/>
            <a:ext cx="2971800" cy="640080"/>
          </a:xfrm>
          <a:prstGeom prst="rect">
            <a:avLst/>
          </a:prstGeom>
          <a:noFill/>
          <a:ln/>
        </p:spPr>
        <p:txBody>
          <a:bodyPr wrap="square" lIns="0" tIns="0" rIns="0" bIns="0" rtlCol="0" anchor="ctr"/>
          <a:lstStyle/>
          <a:p>
            <a:pPr indent="0" marL="0">
              <a:buNone/>
            </a:pPr>
            <a:r>
              <a:rPr lang="en-US" sz="1500" b="1" dirty="0">
                <a:solidFill>
                  <a:srgbClr val="2B2118"/>
                </a:solidFill>
                <a:latin typeface="Arial" pitchFamily="34" charset="0"/>
                <a:ea typeface="Arial" pitchFamily="34" charset="-122"/>
                <a:cs typeface="Arial" pitchFamily="34" charset="-120"/>
              </a:rPr>
              <a:t>Typosquatting</a:t>
            </a:r>
            <a:endParaRPr lang="en-US" sz="1500" dirty="0"/>
          </a:p>
          <a:p>
            <a:pPr indent="0" marL="0">
              <a:buNone/>
            </a:pPr>
            <a:r>
              <a:rPr lang="en-US" sz="1200" dirty="0">
                <a:solidFill>
                  <a:srgbClr val="74665A"/>
                </a:solidFill>
                <a:latin typeface="Arial" pitchFamily="34" charset="0"/>
                <a:ea typeface="Arial" pitchFamily="34" charset="-122"/>
                <a:cs typeface="Arial" pitchFamily="34" charset="-120"/>
              </a:rPr>
              <a:t>a look-alike name: “reqeusts” vs “requests”</a:t>
            </a:r>
            <a:endParaRPr lang="en-US" sz="1500" dirty="0"/>
          </a:p>
        </p:txBody>
      </p:sp>
      <p:sp>
        <p:nvSpPr>
          <p:cNvPr id="10" name="card"/>
          <p:cNvSpPr/>
          <p:nvPr/>
        </p:nvSpPr>
        <p:spPr>
          <a:xfrm>
            <a:off x="4846320" y="2304288"/>
            <a:ext cx="3840480" cy="841248"/>
          </a:xfrm>
          <a:prstGeom prst="roundRect">
            <a:avLst>
              <a:gd name="adj" fmla="val 8696"/>
            </a:avLst>
          </a:prstGeom>
          <a:solidFill>
            <a:srgbClr val="FFFFFF"/>
          </a:solidFill>
          <a:ln w="9525">
            <a:solidFill>
              <a:srgbClr val="EADCCB"/>
            </a:solidFill>
            <a:prstDash val="solid"/>
          </a:ln>
        </p:spPr>
      </p:sp>
      <p:sp>
        <p:nvSpPr>
          <p:cNvPr id="11" name="Shape 9"/>
          <p:cNvSpPr/>
          <p:nvPr/>
        </p:nvSpPr>
        <p:spPr>
          <a:xfrm>
            <a:off x="5029200" y="2532888"/>
            <a:ext cx="384048" cy="384048"/>
          </a:xfrm>
          <a:prstGeom prst="ellipse">
            <a:avLst/>
          </a:prstGeom>
          <a:solidFill>
            <a:srgbClr val="D9502B"/>
          </a:solidFill>
          <a:ln w="12700">
            <a:solidFill>
              <a:srgbClr val="D9502B"/>
            </a:solidFill>
            <a:prstDash val="solid"/>
          </a:ln>
        </p:spPr>
      </p:sp>
      <p:sp>
        <p:nvSpPr>
          <p:cNvPr id="12" name="Text 10"/>
          <p:cNvSpPr txBox="1"/>
          <p:nvPr/>
        </p:nvSpPr>
        <p:spPr>
          <a:xfrm>
            <a:off x="5029200" y="2532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3" name="Text 11"/>
          <p:cNvSpPr txBox="1"/>
          <p:nvPr/>
        </p:nvSpPr>
        <p:spPr>
          <a:xfrm>
            <a:off x="5577840" y="2414016"/>
            <a:ext cx="2971800" cy="640080"/>
          </a:xfrm>
          <a:prstGeom prst="rect">
            <a:avLst/>
          </a:prstGeom>
          <a:noFill/>
          <a:ln/>
        </p:spPr>
        <p:txBody>
          <a:bodyPr wrap="square" lIns="0" tIns="0" rIns="0" bIns="0" rtlCol="0" anchor="ctr"/>
          <a:lstStyle/>
          <a:p>
            <a:pPr indent="0" marL="0">
              <a:buNone/>
            </a:pPr>
            <a:r>
              <a:rPr lang="en-US" sz="1500" b="1" dirty="0">
                <a:solidFill>
                  <a:srgbClr val="2B2118"/>
                </a:solidFill>
                <a:latin typeface="Arial" pitchFamily="34" charset="0"/>
                <a:ea typeface="Arial" pitchFamily="34" charset="-122"/>
                <a:cs typeface="Arial" pitchFamily="34" charset="-120"/>
              </a:rPr>
              <a:t>Dependency confusion</a:t>
            </a:r>
            <a:endParaRPr lang="en-US" sz="1500" dirty="0"/>
          </a:p>
          <a:p>
            <a:pPr indent="0" marL="0">
              <a:buNone/>
            </a:pPr>
            <a:r>
              <a:rPr lang="en-US" sz="1200" dirty="0">
                <a:solidFill>
                  <a:srgbClr val="74665A"/>
                </a:solidFill>
                <a:latin typeface="Arial" pitchFamily="34" charset="0"/>
                <a:ea typeface="Arial" pitchFamily="34" charset="-122"/>
                <a:cs typeface="Arial" pitchFamily="34" charset="-120"/>
              </a:rPr>
              <a:t>a public package wins over your private one</a:t>
            </a:r>
            <a:endParaRPr lang="en-US" sz="1500" dirty="0"/>
          </a:p>
        </p:txBody>
      </p:sp>
      <p:sp>
        <p:nvSpPr>
          <p:cNvPr id="14" name="card"/>
          <p:cNvSpPr/>
          <p:nvPr/>
        </p:nvSpPr>
        <p:spPr>
          <a:xfrm>
            <a:off x="4846320" y="3328416"/>
            <a:ext cx="3840480" cy="841248"/>
          </a:xfrm>
          <a:prstGeom prst="roundRect">
            <a:avLst>
              <a:gd name="adj" fmla="val 8696"/>
            </a:avLst>
          </a:prstGeom>
          <a:solidFill>
            <a:srgbClr val="FFFFFF"/>
          </a:solidFill>
          <a:ln w="9525">
            <a:solidFill>
              <a:srgbClr val="EADCCB"/>
            </a:solidFill>
            <a:prstDash val="solid"/>
          </a:ln>
        </p:spPr>
      </p:sp>
      <p:sp>
        <p:nvSpPr>
          <p:cNvPr id="15" name="Shape 13"/>
          <p:cNvSpPr/>
          <p:nvPr/>
        </p:nvSpPr>
        <p:spPr>
          <a:xfrm>
            <a:off x="5029200" y="3557016"/>
            <a:ext cx="384048" cy="384048"/>
          </a:xfrm>
          <a:prstGeom prst="ellipse">
            <a:avLst/>
          </a:prstGeom>
          <a:solidFill>
            <a:srgbClr val="D9502B"/>
          </a:solidFill>
          <a:ln w="12700">
            <a:solidFill>
              <a:srgbClr val="D9502B"/>
            </a:solidFill>
            <a:prstDash val="solid"/>
          </a:ln>
        </p:spPr>
      </p:sp>
      <p:sp>
        <p:nvSpPr>
          <p:cNvPr id="16" name="Text 14"/>
          <p:cNvSpPr txBox="1"/>
          <p:nvPr/>
        </p:nvSpPr>
        <p:spPr>
          <a:xfrm>
            <a:off x="5029200" y="3557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17" name="Text 15"/>
          <p:cNvSpPr txBox="1"/>
          <p:nvPr/>
        </p:nvSpPr>
        <p:spPr>
          <a:xfrm>
            <a:off x="5577840" y="3438144"/>
            <a:ext cx="2971800" cy="640080"/>
          </a:xfrm>
          <a:prstGeom prst="rect">
            <a:avLst/>
          </a:prstGeom>
          <a:noFill/>
          <a:ln/>
        </p:spPr>
        <p:txBody>
          <a:bodyPr wrap="square" lIns="0" tIns="0" rIns="0" bIns="0" rtlCol="0" anchor="ctr"/>
          <a:lstStyle/>
          <a:p>
            <a:pPr indent="0" marL="0">
              <a:buNone/>
            </a:pPr>
            <a:r>
              <a:rPr lang="en-US" sz="1500" b="1" dirty="0">
                <a:solidFill>
                  <a:srgbClr val="2B2118"/>
                </a:solidFill>
                <a:latin typeface="Arial" pitchFamily="34" charset="0"/>
                <a:ea typeface="Arial" pitchFamily="34" charset="-122"/>
                <a:cs typeface="Arial" pitchFamily="34" charset="-120"/>
              </a:rPr>
              <a:t>Malicious install scripts</a:t>
            </a:r>
            <a:endParaRPr lang="en-US" sz="1500" dirty="0"/>
          </a:p>
          <a:p>
            <a:pPr indent="0" marL="0">
              <a:buNone/>
            </a:pPr>
            <a:r>
              <a:rPr lang="en-US" sz="1200" dirty="0">
                <a:solidFill>
                  <a:srgbClr val="74665A"/>
                </a:solidFill>
                <a:latin typeface="Arial" pitchFamily="34" charset="0"/>
                <a:ea typeface="Arial" pitchFamily="34" charset="-122"/>
                <a:cs typeface="Arial" pitchFamily="34" charset="-120"/>
              </a:rPr>
              <a:t>code runs the moment you type npm install</a:t>
            </a:r>
            <a:endParaRPr lang="en-US" sz="15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502920"/>
            <a:ext cx="8229600" cy="685800"/>
          </a:xfrm>
          <a:prstGeom prst="rect">
            <a:avLst/>
          </a:prstGeom>
          <a:noFill/>
          <a:ln/>
        </p:spPr>
        <p:txBody>
          <a:bodyPr wrap="square" lIns="0" tIns="0" rIns="0" bIns="0" rtlCol="0" anchor="ctr"/>
          <a:lstStyle/>
          <a:p>
            <a:pPr indent="0" marL="0">
              <a:buNone/>
            </a:pPr>
            <a:r>
              <a:rPr lang="en-US" sz="3200" b="1" dirty="0">
                <a:solidFill>
                  <a:srgbClr val="D9502B"/>
                </a:solidFill>
                <a:latin typeface="Montserrat" pitchFamily="34" charset="0"/>
                <a:ea typeface="Montserrat" pitchFamily="34" charset="-122"/>
                <a:cs typeface="Montserrat" pitchFamily="34" charset="-120"/>
              </a:rPr>
              <a:t>OUR IDEA.</a:t>
            </a:r>
            <a:endParaRPr lang="en-US" sz="3200" dirty="0"/>
          </a:p>
        </p:txBody>
      </p:sp>
      <p:sp>
        <p:nvSpPr>
          <p:cNvPr id="3" name="Text 1"/>
          <p:cNvSpPr txBox="1"/>
          <p:nvPr/>
        </p:nvSpPr>
        <p:spPr>
          <a:xfrm>
            <a:off x="457200" y="1234440"/>
            <a:ext cx="8229600" cy="731520"/>
          </a:xfrm>
          <a:prstGeom prst="rect">
            <a:avLst/>
          </a:prstGeom>
          <a:noFill/>
          <a:ln/>
        </p:spPr>
        <p:txBody>
          <a:bodyPr wrap="square" lIns="0" tIns="0" rIns="0" bIns="0" rtlCol="0" anchor="ctr"/>
          <a:lstStyle/>
          <a:p>
            <a:pPr indent="0" marL="0">
              <a:buNone/>
            </a:pPr>
            <a:r>
              <a:rPr lang="en-US" sz="2000" dirty="0">
                <a:solidFill>
                  <a:srgbClr val="74665A"/>
                </a:solidFill>
                <a:latin typeface="Montserrat" pitchFamily="34" charset="0"/>
                <a:ea typeface="Montserrat" pitchFamily="34" charset="-122"/>
                <a:cs typeface="Montserrat" pitchFamily="34" charset="-120"/>
              </a:rPr>
              <a:t>Don’t ask “is this known to be bad?”</a:t>
            </a:r>
            <a:endParaRPr lang="en-US" sz="2000" dirty="0"/>
          </a:p>
          <a:p>
            <a:pPr indent="0" marL="0">
              <a:buNone/>
            </a:pPr>
            <a:r>
              <a:rPr lang="en-US" sz="2000" b="1" dirty="0">
                <a:solidFill>
                  <a:srgbClr val="D9502B"/>
                </a:solidFill>
                <a:latin typeface="Montserrat" pitchFamily="34" charset="0"/>
                <a:ea typeface="Montserrat" pitchFamily="34" charset="-122"/>
                <a:cs typeface="Montserrat" pitchFamily="34" charset="-120"/>
              </a:rPr>
              <a:t>Ask “does it do what it says?”</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8229600" cy="914400"/>
        </p:xfrm>
        <a:graphic>
          <a:graphicData uri="http://schemas.openxmlformats.org/drawingml/2006/table">
            <a:tbl>
              <a:tblPr/>
              <a:tblGrid>
                <a:gridCol w="1463040"/>
                <a:gridCol w="2926080"/>
                <a:gridCol w="3840480"/>
              </a:tblGrid>
              <a:tr h="438912">
                <a:tc>
                  <a:txBody>
                    <a:bodyPr/>
                    <a:lstStyle/>
                    <a:p>
                      <a:pPr indent="0" marL="0">
                        <a:buNone/>
                      </a:pP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b="1" dirty="0">
                          <a:solidFill>
                            <a:srgbClr val="2B2118"/>
                          </a:solidFill>
                          <a:latin typeface="Arial" pitchFamily="34" charset="0"/>
                          <a:ea typeface="Arial" pitchFamily="34" charset="-122"/>
                          <a:cs typeface="Arial" pitchFamily="34" charset="-120"/>
                        </a:rPr>
                        <a:t>Signature scanners</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TrustLens</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D9502B"/>
                    </a:solidFill>
                  </a:tcPr>
                </a:tc>
              </a:tr>
              <a:tr h="438912">
                <a:tc>
                  <a:txBody>
                    <a:bodyPr/>
                    <a:lstStyle/>
                    <a:p>
                      <a:pPr indent="0" marL="0">
                        <a:buNone/>
                      </a:pPr>
                      <a:r>
                        <a:rPr lang="en-US" sz="1200" b="1" dirty="0">
                          <a:solidFill>
                            <a:srgbClr val="74665A"/>
                          </a:solidFill>
                          <a:latin typeface="Arial" pitchFamily="34" charset="0"/>
                          <a:ea typeface="Arial" pitchFamily="34" charset="-122"/>
                          <a:cs typeface="Arial" pitchFamily="34" charset="-120"/>
                        </a:rPr>
                        <a:t>Looks at</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dirty="0">
                          <a:solidFill>
                            <a:srgbClr val="74665A"/>
                          </a:solidFill>
                          <a:latin typeface="Arial" pitchFamily="34" charset="0"/>
                          <a:ea typeface="Arial" pitchFamily="34" charset="-122"/>
                          <a:cs typeface="Arial" pitchFamily="34" charset="-120"/>
                        </a:rPr>
                        <a:t>Code patterns of known attacks</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dirty="0">
                          <a:solidFill>
                            <a:srgbClr val="2B2118"/>
                          </a:solidFill>
                          <a:latin typeface="Arial" pitchFamily="34" charset="0"/>
                          <a:ea typeface="Arial" pitchFamily="34" charset="-122"/>
                          <a:cs typeface="Arial" pitchFamily="34" charset="-120"/>
                        </a:rPr>
                        <a:t>What the package actually does when run</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BE3D6"/>
                    </a:solidFill>
                  </a:tcPr>
                </a:tc>
              </a:tr>
              <a:tr h="438912">
                <a:tc>
                  <a:txBody>
                    <a:bodyPr/>
                    <a:lstStyle/>
                    <a:p>
                      <a:pPr indent="0" marL="0">
                        <a:buNone/>
                      </a:pPr>
                      <a:r>
                        <a:rPr lang="en-US" sz="1200" b="1" dirty="0">
                          <a:solidFill>
                            <a:srgbClr val="74665A"/>
                          </a:solidFill>
                          <a:latin typeface="Arial" pitchFamily="34" charset="0"/>
                          <a:ea typeface="Arial" pitchFamily="34" charset="-122"/>
                          <a:cs typeface="Arial" pitchFamily="34" charset="-120"/>
                        </a:rPr>
                        <a:t>Compares with</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dirty="0">
                          <a:solidFill>
                            <a:srgbClr val="74665A"/>
                          </a:solidFill>
                          <a:latin typeface="Arial" pitchFamily="34" charset="0"/>
                          <a:ea typeface="Arial" pitchFamily="34" charset="-122"/>
                          <a:cs typeface="Arial" pitchFamily="34" charset="-120"/>
                        </a:rPr>
                        <a:t>A list of past malware</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dirty="0">
                          <a:solidFill>
                            <a:srgbClr val="2B2118"/>
                          </a:solidFill>
                          <a:latin typeface="Arial" pitchFamily="34" charset="0"/>
                          <a:ea typeface="Arial" pitchFamily="34" charset="-122"/>
                          <a:cs typeface="Arial" pitchFamily="34" charset="-120"/>
                        </a:rPr>
                        <a:t>The package’s own README and metadata</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BE3D6"/>
                    </a:solidFill>
                  </a:tcPr>
                </a:tc>
              </a:tr>
              <a:tr h="438912">
                <a:tc>
                  <a:txBody>
                    <a:bodyPr/>
                    <a:lstStyle/>
                    <a:p>
                      <a:pPr indent="0" marL="0">
                        <a:buNone/>
                      </a:pPr>
                      <a:r>
                        <a:rPr lang="en-US" sz="1200" b="1" dirty="0">
                          <a:solidFill>
                            <a:srgbClr val="74665A"/>
                          </a:solidFill>
                          <a:latin typeface="Arial" pitchFamily="34" charset="0"/>
                          <a:ea typeface="Arial" pitchFamily="34" charset="-122"/>
                          <a:cs typeface="Arial" pitchFamily="34" charset="-120"/>
                        </a:rPr>
                        <a:t>New attacks</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dirty="0">
                          <a:solidFill>
                            <a:srgbClr val="74665A"/>
                          </a:solidFill>
                          <a:latin typeface="Arial" pitchFamily="34" charset="0"/>
                          <a:ea typeface="Arial" pitchFamily="34" charset="-122"/>
                          <a:cs typeface="Arial" pitchFamily="34" charset="-120"/>
                        </a:rPr>
                        <a:t>Missed until someone reports them</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dirty="0">
                          <a:solidFill>
                            <a:srgbClr val="2B2118"/>
                          </a:solidFill>
                          <a:latin typeface="Arial" pitchFamily="34" charset="0"/>
                          <a:ea typeface="Arial" pitchFamily="34" charset="-122"/>
                          <a:cs typeface="Arial" pitchFamily="34" charset="-120"/>
                        </a:rPr>
                        <a:t>Caught if behaviour doesn’t match the claims</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BE3D6"/>
                    </a:solidFill>
                  </a:tcPr>
                </a:tc>
              </a:tr>
              <a:tr h="438912">
                <a:tc>
                  <a:txBody>
                    <a:bodyPr/>
                    <a:lstStyle/>
                    <a:p>
                      <a:pPr indent="0" marL="0">
                        <a:buNone/>
                      </a:pPr>
                      <a:r>
                        <a:rPr lang="en-US" sz="1200" b="1" dirty="0">
                          <a:solidFill>
                            <a:srgbClr val="74665A"/>
                          </a:solidFill>
                          <a:latin typeface="Arial" pitchFamily="34" charset="0"/>
                          <a:ea typeface="Arial" pitchFamily="34" charset="-122"/>
                          <a:cs typeface="Arial" pitchFamily="34" charset="-120"/>
                        </a:rPr>
                        <a:t>Hiding tricks</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dirty="0">
                          <a:solidFill>
                            <a:srgbClr val="74665A"/>
                          </a:solidFill>
                          <a:latin typeface="Arial" pitchFamily="34" charset="0"/>
                          <a:ea typeface="Arial" pitchFamily="34" charset="-122"/>
                          <a:cs typeface="Arial" pitchFamily="34" charset="-120"/>
                        </a:rPr>
                        <a:t>Not checked</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FFFFF"/>
                    </a:solidFill>
                  </a:tcPr>
                </a:tc>
                <a:tc>
                  <a:txBody>
                    <a:bodyPr/>
                    <a:lstStyle/>
                    <a:p>
                      <a:pPr indent="0" marL="0">
                        <a:buNone/>
                      </a:pPr>
                      <a:r>
                        <a:rPr lang="en-US" sz="1200" dirty="0">
                          <a:solidFill>
                            <a:srgbClr val="2B2118"/>
                          </a:solidFill>
                          <a:latin typeface="Arial" pitchFamily="34" charset="0"/>
                          <a:ea typeface="Arial" pitchFamily="34" charset="-122"/>
                          <a:cs typeface="Arial" pitchFamily="34" charset="-120"/>
                        </a:rPr>
                        <a:t>Runs it 5 ways: normal, CI, future date, other host, other user</a:t>
                      </a:r>
                      <a:endParaRPr lang="en-US" sz="1200" dirty="0">
                        <a:latin typeface="Arial" charset="0"/>
                        <a:ea typeface="Arial" charset="0"/>
                        <a:cs typeface="Arial" charset="0"/>
                      </a:endParaRPr>
                    </a:p>
                  </a:txBody>
                  <a:tcPr marL="91440" marR="91440" marT="0" marB="0" anchor="ctr">
                    <a:lnL w="9525" cap="flat" cmpd="sng" algn="ctr">
                      <a:solidFill>
                        <a:srgbClr val="EADCCB"/>
                      </a:solidFill>
                      <a:prstDash val="solid"/>
                      <a:round/>
                      <a:headEnd type="none" w="med" len="med"/>
                      <a:tailEnd type="none" w="med" len="med"/>
                    </a:lnL>
                    <a:lnR w="9525" cap="flat" cmpd="sng" algn="ctr">
                      <a:solidFill>
                        <a:srgbClr val="EADCCB"/>
                      </a:solidFill>
                      <a:prstDash val="solid"/>
                      <a:round/>
                      <a:headEnd type="none" w="med" len="med"/>
                      <a:tailEnd type="none" w="med" len="med"/>
                    </a:lnR>
                    <a:lnT w="9525" cap="flat" cmpd="sng" algn="ctr">
                      <a:solidFill>
                        <a:srgbClr val="EADCCB"/>
                      </a:solidFill>
                      <a:prstDash val="solid"/>
                      <a:round/>
                      <a:headEnd type="none" w="med" len="med"/>
                      <a:tailEnd type="none" w="med" len="med"/>
                    </a:lnT>
                    <a:lnB w="9525" cap="flat" cmpd="sng" algn="ctr">
                      <a:solidFill>
                        <a:srgbClr val="EADCCB"/>
                      </a:solidFill>
                      <a:prstDash val="solid"/>
                      <a:round/>
                      <a:headEnd type="none" w="med" len="med"/>
                      <a:tailEnd type="none" w="med" len="med"/>
                    </a:lnB>
                    <a:solidFill>
                      <a:srgbClr val="FBE3D6"/>
                    </a:solidFill>
                  </a:tcPr>
                </a:tc>
              </a:tr>
            </a:tbl>
          </a:graphicData>
        </a:graphic>
      </p:graphicFrame>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502920"/>
            <a:ext cx="8229600" cy="685800"/>
          </a:xfrm>
          <a:prstGeom prst="rect">
            <a:avLst/>
          </a:prstGeom>
          <a:noFill/>
          <a:ln/>
        </p:spPr>
        <p:txBody>
          <a:bodyPr wrap="square" lIns="0" tIns="0" rIns="0" bIns="0" rtlCol="0" anchor="ctr"/>
          <a:lstStyle/>
          <a:p>
            <a:pPr indent="0" marL="0">
              <a:buNone/>
            </a:pPr>
            <a:r>
              <a:rPr lang="en-US" sz="3200" b="1" dirty="0">
                <a:solidFill>
                  <a:srgbClr val="D9502B"/>
                </a:solidFill>
                <a:latin typeface="Montserrat" pitchFamily="34" charset="0"/>
                <a:ea typeface="Montserrat" pitchFamily="34" charset="-122"/>
                <a:cs typeface="Montserrat" pitchFamily="34" charset="-120"/>
              </a:rPr>
              <a:t>HOW IT WORKS.</a:t>
            </a:r>
            <a:endParaRPr lang="en-US" sz="3200" dirty="0"/>
          </a:p>
        </p:txBody>
      </p:sp>
      <p:sp>
        <p:nvSpPr>
          <p:cNvPr id="3" name="card"/>
          <p:cNvSpPr/>
          <p:nvPr/>
        </p:nvSpPr>
        <p:spPr>
          <a:xfrm>
            <a:off x="457200" y="1325880"/>
            <a:ext cx="1481328" cy="1600200"/>
          </a:xfrm>
          <a:prstGeom prst="roundRect">
            <a:avLst>
              <a:gd name="adj" fmla="val 4938"/>
            </a:avLst>
          </a:prstGeom>
          <a:solidFill>
            <a:srgbClr val="FFFFFF"/>
          </a:solidFill>
          <a:ln w="9525">
            <a:solidFill>
              <a:srgbClr val="EADCCB"/>
            </a:solidFill>
            <a:prstDash val="solid"/>
          </a:ln>
        </p:spPr>
      </p:sp>
      <p:sp>
        <p:nvSpPr>
          <p:cNvPr id="4" name="Shape 2"/>
          <p:cNvSpPr/>
          <p:nvPr/>
        </p:nvSpPr>
        <p:spPr>
          <a:xfrm>
            <a:off x="594360" y="1463040"/>
            <a:ext cx="347472" cy="347472"/>
          </a:xfrm>
          <a:prstGeom prst="ellipse">
            <a:avLst/>
          </a:prstGeom>
          <a:solidFill>
            <a:srgbClr val="D9502B"/>
          </a:solidFill>
          <a:ln w="12700">
            <a:solidFill>
              <a:srgbClr val="D9502B"/>
            </a:solidFill>
            <a:prstDash val="solid"/>
          </a:ln>
        </p:spPr>
      </p:sp>
      <p:sp>
        <p:nvSpPr>
          <p:cNvPr id="5" name="Text 3"/>
          <p:cNvSpPr txBox="1"/>
          <p:nvPr/>
        </p:nvSpPr>
        <p:spPr>
          <a:xfrm>
            <a:off x="594360" y="14630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6" name="Text 4"/>
          <p:cNvSpPr txBox="1"/>
          <p:nvPr/>
        </p:nvSpPr>
        <p:spPr>
          <a:xfrm>
            <a:off x="594360" y="1901952"/>
            <a:ext cx="1207008" cy="960120"/>
          </a:xfrm>
          <a:prstGeom prst="rect">
            <a:avLst/>
          </a:prstGeom>
          <a:noFill/>
          <a:ln/>
        </p:spPr>
        <p:txBody>
          <a:bodyPr wrap="square" lIns="0" tIns="0" rIns="0" bIns="0" rtlCol="0" anchor="t"/>
          <a:lstStyle/>
          <a:p>
            <a:pPr indent="0" marL="0">
              <a:buNone/>
            </a:pPr>
            <a:r>
              <a:rPr lang="en-US" sz="1300" b="1" dirty="0">
                <a:solidFill>
                  <a:srgbClr val="2B2118"/>
                </a:solidFill>
                <a:latin typeface="Arial" pitchFamily="34" charset="0"/>
                <a:ea typeface="Arial" pitchFamily="34" charset="-122"/>
                <a:cs typeface="Arial" pitchFamily="34" charset="-120"/>
              </a:rPr>
              <a:t>Get it</a:t>
            </a:r>
            <a:endParaRPr lang="en-US" sz="1300" dirty="0"/>
          </a:p>
          <a:p>
            <a:pPr indent="0" marL="0">
              <a:buNone/>
            </a:pPr>
            <a:r>
              <a:rPr lang="en-US" sz="1050" dirty="0">
                <a:solidFill>
                  <a:srgbClr val="74665A"/>
                </a:solidFill>
                <a:latin typeface="Arial" pitchFamily="34" charset="0"/>
                <a:ea typeface="Arial" pitchFamily="34" charset="-122"/>
                <a:cs typeface="Arial" pitchFamily="34" charset="-120"/>
              </a:rPr>
              <a:t>npm / PyPI name or upload. Download only, nothing runs</a:t>
            </a:r>
            <a:endParaRPr lang="en-US" sz="1300" dirty="0"/>
          </a:p>
        </p:txBody>
      </p:sp>
      <p:sp>
        <p:nvSpPr>
          <p:cNvPr id="7" name="Shape 5"/>
          <p:cNvSpPr/>
          <p:nvPr/>
        </p:nvSpPr>
        <p:spPr>
          <a:xfrm>
            <a:off x="1965960" y="2121408"/>
            <a:ext cx="146304" cy="0"/>
          </a:xfrm>
          <a:prstGeom prst="line">
            <a:avLst/>
          </a:prstGeom>
          <a:noFill/>
          <a:ln w="19050">
            <a:solidFill>
              <a:srgbClr val="D9502B"/>
            </a:solidFill>
            <a:prstDash val="solid"/>
            <a:tailEnd type="triangle"/>
          </a:ln>
        </p:spPr>
      </p:sp>
      <p:sp>
        <p:nvSpPr>
          <p:cNvPr id="8" name="card"/>
          <p:cNvSpPr/>
          <p:nvPr/>
        </p:nvSpPr>
        <p:spPr>
          <a:xfrm>
            <a:off x="2139696" y="1325880"/>
            <a:ext cx="1481328" cy="1600200"/>
          </a:xfrm>
          <a:prstGeom prst="roundRect">
            <a:avLst>
              <a:gd name="adj" fmla="val 4938"/>
            </a:avLst>
          </a:prstGeom>
          <a:solidFill>
            <a:srgbClr val="FFFFFF"/>
          </a:solidFill>
          <a:ln w="9525">
            <a:solidFill>
              <a:srgbClr val="EADCCB"/>
            </a:solidFill>
            <a:prstDash val="solid"/>
          </a:ln>
        </p:spPr>
      </p:sp>
      <p:sp>
        <p:nvSpPr>
          <p:cNvPr id="9" name="Shape 7"/>
          <p:cNvSpPr/>
          <p:nvPr/>
        </p:nvSpPr>
        <p:spPr>
          <a:xfrm>
            <a:off x="2276856" y="1463040"/>
            <a:ext cx="347472" cy="347472"/>
          </a:xfrm>
          <a:prstGeom prst="ellipse">
            <a:avLst/>
          </a:prstGeom>
          <a:solidFill>
            <a:srgbClr val="D9502B"/>
          </a:solidFill>
          <a:ln w="12700">
            <a:solidFill>
              <a:srgbClr val="D9502B"/>
            </a:solidFill>
            <a:prstDash val="solid"/>
          </a:ln>
        </p:spPr>
      </p:sp>
      <p:sp>
        <p:nvSpPr>
          <p:cNvPr id="10" name="Text 8"/>
          <p:cNvSpPr txBox="1"/>
          <p:nvPr/>
        </p:nvSpPr>
        <p:spPr>
          <a:xfrm>
            <a:off x="2276856" y="14630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1" name="Text 9"/>
          <p:cNvSpPr txBox="1"/>
          <p:nvPr/>
        </p:nvSpPr>
        <p:spPr>
          <a:xfrm>
            <a:off x="2276856" y="1901952"/>
            <a:ext cx="1207008" cy="960120"/>
          </a:xfrm>
          <a:prstGeom prst="rect">
            <a:avLst/>
          </a:prstGeom>
          <a:noFill/>
          <a:ln/>
        </p:spPr>
        <p:txBody>
          <a:bodyPr wrap="square" lIns="0" tIns="0" rIns="0" bIns="0" rtlCol="0" anchor="t"/>
          <a:lstStyle/>
          <a:p>
            <a:pPr indent="0" marL="0">
              <a:buNone/>
            </a:pPr>
            <a:r>
              <a:rPr lang="en-US" sz="1300" b="1" dirty="0">
                <a:solidFill>
                  <a:srgbClr val="2B2118"/>
                </a:solidFill>
                <a:latin typeface="Arial" pitchFamily="34" charset="0"/>
                <a:ea typeface="Arial" pitchFamily="34" charset="-122"/>
                <a:cs typeface="Arial" pitchFamily="34" charset="-120"/>
              </a:rPr>
              <a:t>Read README</a:t>
            </a:r>
            <a:endParaRPr lang="en-US" sz="1300" dirty="0"/>
          </a:p>
          <a:p>
            <a:pPr indent="0" marL="0">
              <a:buNone/>
            </a:pPr>
            <a:r>
              <a:rPr lang="en-US" sz="1050" dirty="0">
                <a:solidFill>
                  <a:srgbClr val="74665A"/>
                </a:solidFill>
                <a:latin typeface="Arial" pitchFamily="34" charset="0"/>
                <a:ea typeface="Arial" pitchFamily="34" charset="-122"/>
                <a:cs typeface="Arial" pitchFamily="34" charset="-120"/>
              </a:rPr>
              <a:t>What it promises: hosts, files, env vars, programs</a:t>
            </a:r>
            <a:endParaRPr lang="en-US" sz="1300" dirty="0"/>
          </a:p>
        </p:txBody>
      </p:sp>
      <p:sp>
        <p:nvSpPr>
          <p:cNvPr id="12" name="Shape 10"/>
          <p:cNvSpPr/>
          <p:nvPr/>
        </p:nvSpPr>
        <p:spPr>
          <a:xfrm>
            <a:off x="3648456" y="2121408"/>
            <a:ext cx="146304" cy="0"/>
          </a:xfrm>
          <a:prstGeom prst="line">
            <a:avLst/>
          </a:prstGeom>
          <a:noFill/>
          <a:ln w="19050">
            <a:solidFill>
              <a:srgbClr val="D9502B"/>
            </a:solidFill>
            <a:prstDash val="solid"/>
            <a:tailEnd type="triangle"/>
          </a:ln>
        </p:spPr>
      </p:sp>
      <p:sp>
        <p:nvSpPr>
          <p:cNvPr id="13" name="card"/>
          <p:cNvSpPr/>
          <p:nvPr/>
        </p:nvSpPr>
        <p:spPr>
          <a:xfrm>
            <a:off x="3822192" y="1325880"/>
            <a:ext cx="1481328" cy="1600200"/>
          </a:xfrm>
          <a:prstGeom prst="roundRect">
            <a:avLst>
              <a:gd name="adj" fmla="val 4938"/>
            </a:avLst>
          </a:prstGeom>
          <a:solidFill>
            <a:srgbClr val="FBE3D6"/>
          </a:solidFill>
          <a:ln w="9525">
            <a:solidFill>
              <a:srgbClr val="EADCCB"/>
            </a:solidFill>
            <a:prstDash val="solid"/>
          </a:ln>
        </p:spPr>
      </p:sp>
      <p:sp>
        <p:nvSpPr>
          <p:cNvPr id="14" name="Shape 12"/>
          <p:cNvSpPr/>
          <p:nvPr/>
        </p:nvSpPr>
        <p:spPr>
          <a:xfrm>
            <a:off x="3959352" y="1463040"/>
            <a:ext cx="347472" cy="347472"/>
          </a:xfrm>
          <a:prstGeom prst="ellipse">
            <a:avLst/>
          </a:prstGeom>
          <a:solidFill>
            <a:srgbClr val="D9502B"/>
          </a:solidFill>
          <a:ln w="12700">
            <a:solidFill>
              <a:srgbClr val="D9502B"/>
            </a:solidFill>
            <a:prstDash val="solid"/>
          </a:ln>
        </p:spPr>
      </p:sp>
      <p:sp>
        <p:nvSpPr>
          <p:cNvPr id="15" name="Text 13"/>
          <p:cNvSpPr txBox="1"/>
          <p:nvPr/>
        </p:nvSpPr>
        <p:spPr>
          <a:xfrm>
            <a:off x="3959352" y="14630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16" name="Text 14"/>
          <p:cNvSpPr txBox="1"/>
          <p:nvPr/>
        </p:nvSpPr>
        <p:spPr>
          <a:xfrm>
            <a:off x="3959352" y="1901952"/>
            <a:ext cx="1207008" cy="960120"/>
          </a:xfrm>
          <a:prstGeom prst="rect">
            <a:avLst/>
          </a:prstGeom>
          <a:noFill/>
          <a:ln/>
        </p:spPr>
        <p:txBody>
          <a:bodyPr wrap="square" lIns="0" tIns="0" rIns="0" bIns="0" rtlCol="0" anchor="t"/>
          <a:lstStyle/>
          <a:p>
            <a:pPr indent="0" marL="0">
              <a:buNone/>
            </a:pPr>
            <a:r>
              <a:rPr lang="en-US" sz="1300" b="1" dirty="0">
                <a:solidFill>
                  <a:srgbClr val="2B2118"/>
                </a:solidFill>
                <a:latin typeface="Arial" pitchFamily="34" charset="0"/>
                <a:ea typeface="Arial" pitchFamily="34" charset="-122"/>
                <a:cs typeface="Arial" pitchFamily="34" charset="-120"/>
              </a:rPr>
              <a:t>Sandbox ×5</a:t>
            </a:r>
            <a:endParaRPr lang="en-US" sz="1300" dirty="0"/>
          </a:p>
          <a:p>
            <a:pPr indent="0" marL="0">
              <a:buNone/>
            </a:pPr>
            <a:r>
              <a:rPr lang="en-US" sz="1050" dirty="0">
                <a:solidFill>
                  <a:srgbClr val="74665A"/>
                </a:solidFill>
                <a:latin typeface="Arial" pitchFamily="34" charset="0"/>
                <a:ea typeface="Arial" pitchFamily="34" charset="-122"/>
                <a:cs typeface="Arial" pitchFamily="34" charset="-120"/>
              </a:rPr>
              <a:t>Install, import, run examples. A hook logs everything</a:t>
            </a:r>
            <a:endParaRPr lang="en-US" sz="1300" dirty="0"/>
          </a:p>
        </p:txBody>
      </p:sp>
      <p:sp>
        <p:nvSpPr>
          <p:cNvPr id="17" name="Shape 15"/>
          <p:cNvSpPr/>
          <p:nvPr/>
        </p:nvSpPr>
        <p:spPr>
          <a:xfrm>
            <a:off x="5330952" y="2121408"/>
            <a:ext cx="146304" cy="0"/>
          </a:xfrm>
          <a:prstGeom prst="line">
            <a:avLst/>
          </a:prstGeom>
          <a:noFill/>
          <a:ln w="19050">
            <a:solidFill>
              <a:srgbClr val="D9502B"/>
            </a:solidFill>
            <a:prstDash val="solid"/>
            <a:tailEnd type="triangle"/>
          </a:ln>
        </p:spPr>
      </p:sp>
      <p:sp>
        <p:nvSpPr>
          <p:cNvPr id="18" name="card"/>
          <p:cNvSpPr/>
          <p:nvPr/>
        </p:nvSpPr>
        <p:spPr>
          <a:xfrm>
            <a:off x="5504688" y="1325880"/>
            <a:ext cx="1481328" cy="1600200"/>
          </a:xfrm>
          <a:prstGeom prst="roundRect">
            <a:avLst>
              <a:gd name="adj" fmla="val 4938"/>
            </a:avLst>
          </a:prstGeom>
          <a:solidFill>
            <a:srgbClr val="FFFFFF"/>
          </a:solidFill>
          <a:ln w="9525">
            <a:solidFill>
              <a:srgbClr val="EADCCB"/>
            </a:solidFill>
            <a:prstDash val="solid"/>
          </a:ln>
        </p:spPr>
      </p:sp>
      <p:sp>
        <p:nvSpPr>
          <p:cNvPr id="19" name="Shape 17"/>
          <p:cNvSpPr/>
          <p:nvPr/>
        </p:nvSpPr>
        <p:spPr>
          <a:xfrm>
            <a:off x="5641848" y="1463040"/>
            <a:ext cx="347472" cy="347472"/>
          </a:xfrm>
          <a:prstGeom prst="ellipse">
            <a:avLst/>
          </a:prstGeom>
          <a:solidFill>
            <a:srgbClr val="D9502B"/>
          </a:solidFill>
          <a:ln w="12700">
            <a:solidFill>
              <a:srgbClr val="D9502B"/>
            </a:solidFill>
            <a:prstDash val="solid"/>
          </a:ln>
        </p:spPr>
      </p:sp>
      <p:sp>
        <p:nvSpPr>
          <p:cNvPr id="20" name="Text 18"/>
          <p:cNvSpPr txBox="1"/>
          <p:nvPr/>
        </p:nvSpPr>
        <p:spPr>
          <a:xfrm>
            <a:off x="5641848" y="14630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1" name="Text 19"/>
          <p:cNvSpPr txBox="1"/>
          <p:nvPr/>
        </p:nvSpPr>
        <p:spPr>
          <a:xfrm>
            <a:off x="5641848" y="1901952"/>
            <a:ext cx="1207008" cy="960120"/>
          </a:xfrm>
          <a:prstGeom prst="rect">
            <a:avLst/>
          </a:prstGeom>
          <a:noFill/>
          <a:ln/>
        </p:spPr>
        <p:txBody>
          <a:bodyPr wrap="square" lIns="0" tIns="0" rIns="0" bIns="0" rtlCol="0" anchor="t"/>
          <a:lstStyle/>
          <a:p>
            <a:pPr indent="0" marL="0">
              <a:buNone/>
            </a:pPr>
            <a:r>
              <a:rPr lang="en-US" sz="1300" b="1" dirty="0">
                <a:solidFill>
                  <a:srgbClr val="2B2118"/>
                </a:solidFill>
                <a:latin typeface="Arial" pitchFamily="34" charset="0"/>
                <a:ea typeface="Arial" pitchFamily="34" charset="-122"/>
                <a:cs typeface="Arial" pitchFamily="34" charset="-120"/>
              </a:rPr>
              <a:t>Fingerprint</a:t>
            </a:r>
            <a:endParaRPr lang="en-US" sz="1300" dirty="0"/>
          </a:p>
          <a:p>
            <a:pPr indent="0" marL="0">
              <a:buNone/>
            </a:pPr>
            <a:r>
              <a:rPr lang="en-US" sz="1050" dirty="0">
                <a:solidFill>
                  <a:srgbClr val="74665A"/>
                </a:solidFill>
                <a:latin typeface="Arial" pitchFamily="34" charset="0"/>
                <a:ea typeface="Arial" pitchFamily="34" charset="-122"/>
                <a:cs typeface="Arial" pitchFamily="34" charset="-120"/>
              </a:rPr>
              <a:t>net · files · env vars · processes</a:t>
            </a:r>
            <a:endParaRPr lang="en-US" sz="1300" dirty="0"/>
          </a:p>
        </p:txBody>
      </p:sp>
      <p:sp>
        <p:nvSpPr>
          <p:cNvPr id="22" name="Shape 20"/>
          <p:cNvSpPr/>
          <p:nvPr/>
        </p:nvSpPr>
        <p:spPr>
          <a:xfrm>
            <a:off x="7013448" y="2121408"/>
            <a:ext cx="146304" cy="0"/>
          </a:xfrm>
          <a:prstGeom prst="line">
            <a:avLst/>
          </a:prstGeom>
          <a:noFill/>
          <a:ln w="19050">
            <a:solidFill>
              <a:srgbClr val="D9502B"/>
            </a:solidFill>
            <a:prstDash val="solid"/>
            <a:tailEnd type="triangle"/>
          </a:ln>
        </p:spPr>
      </p:sp>
      <p:sp>
        <p:nvSpPr>
          <p:cNvPr id="23" name="card"/>
          <p:cNvSpPr/>
          <p:nvPr/>
        </p:nvSpPr>
        <p:spPr>
          <a:xfrm>
            <a:off x="7187184" y="1325880"/>
            <a:ext cx="1481328" cy="1600200"/>
          </a:xfrm>
          <a:prstGeom prst="roundRect">
            <a:avLst>
              <a:gd name="adj" fmla="val 4938"/>
            </a:avLst>
          </a:prstGeom>
          <a:solidFill>
            <a:srgbClr val="FFFFFF"/>
          </a:solidFill>
          <a:ln w="9525">
            <a:solidFill>
              <a:srgbClr val="EADCCB"/>
            </a:solidFill>
            <a:prstDash val="solid"/>
          </a:ln>
        </p:spPr>
      </p:sp>
      <p:sp>
        <p:nvSpPr>
          <p:cNvPr id="24" name="Shape 22"/>
          <p:cNvSpPr/>
          <p:nvPr/>
        </p:nvSpPr>
        <p:spPr>
          <a:xfrm>
            <a:off x="7324344" y="1463040"/>
            <a:ext cx="347472" cy="347472"/>
          </a:xfrm>
          <a:prstGeom prst="ellipse">
            <a:avLst/>
          </a:prstGeom>
          <a:solidFill>
            <a:srgbClr val="D9502B"/>
          </a:solidFill>
          <a:ln w="12700">
            <a:solidFill>
              <a:srgbClr val="D9502B"/>
            </a:solidFill>
            <a:prstDash val="solid"/>
          </a:ln>
        </p:spPr>
      </p:sp>
      <p:sp>
        <p:nvSpPr>
          <p:cNvPr id="25" name="Text 23"/>
          <p:cNvSpPr txBox="1"/>
          <p:nvPr/>
        </p:nvSpPr>
        <p:spPr>
          <a:xfrm>
            <a:off x="7324344" y="14630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26" name="Text 24"/>
          <p:cNvSpPr txBox="1"/>
          <p:nvPr/>
        </p:nvSpPr>
        <p:spPr>
          <a:xfrm>
            <a:off x="7324344" y="1901952"/>
            <a:ext cx="1207008" cy="960120"/>
          </a:xfrm>
          <a:prstGeom prst="rect">
            <a:avLst/>
          </a:prstGeom>
          <a:noFill/>
          <a:ln/>
        </p:spPr>
        <p:txBody>
          <a:bodyPr wrap="square" lIns="0" tIns="0" rIns="0" bIns="0" rtlCol="0" anchor="t"/>
          <a:lstStyle/>
          <a:p>
            <a:pPr indent="0" marL="0">
              <a:buNone/>
            </a:pPr>
            <a:r>
              <a:rPr lang="en-US" sz="1300" b="1" dirty="0">
                <a:solidFill>
                  <a:srgbClr val="2B2118"/>
                </a:solidFill>
                <a:latin typeface="Arial" pitchFamily="34" charset="0"/>
                <a:ea typeface="Arial" pitchFamily="34" charset="-122"/>
                <a:cs typeface="Arial" pitchFamily="34" charset="-120"/>
              </a:rPr>
              <a:t>Compare</a:t>
            </a:r>
            <a:endParaRPr lang="en-US" sz="1300" dirty="0"/>
          </a:p>
          <a:p>
            <a:pPr indent="0" marL="0">
              <a:buNone/>
            </a:pPr>
            <a:r>
              <a:rPr lang="en-US" sz="1050" dirty="0">
                <a:solidFill>
                  <a:srgbClr val="74665A"/>
                </a:solidFill>
                <a:latin typeface="Arial" pitchFamily="34" charset="0"/>
                <a:ea typeface="Arial" pitchFamily="34" charset="-122"/>
                <a:cs typeface="Arial" pitchFamily="34" charset="-120"/>
              </a:rPr>
              <a:t>claimed · expected · unclaimed · contradicted</a:t>
            </a:r>
            <a:endParaRPr lang="en-US" sz="1300" dirty="0"/>
          </a:p>
        </p:txBody>
      </p:sp>
      <p:sp>
        <p:nvSpPr>
          <p:cNvPr id="27" name="card"/>
          <p:cNvSpPr/>
          <p:nvPr/>
        </p:nvSpPr>
        <p:spPr>
          <a:xfrm>
            <a:off x="457200" y="3154680"/>
            <a:ext cx="8229600" cy="1417320"/>
          </a:xfrm>
          <a:prstGeom prst="roundRect">
            <a:avLst>
              <a:gd name="adj" fmla="val 5161"/>
            </a:avLst>
          </a:prstGeom>
          <a:solidFill>
            <a:srgbClr val="FFFFFF"/>
          </a:solidFill>
          <a:ln w="9525">
            <a:solidFill>
              <a:srgbClr val="EADCCB"/>
            </a:solidFill>
            <a:prstDash val="solid"/>
          </a:ln>
        </p:spPr>
      </p:sp>
      <p:sp>
        <p:nvSpPr>
          <p:cNvPr id="28" name="Text 26"/>
          <p:cNvSpPr txBox="1"/>
          <p:nvPr/>
        </p:nvSpPr>
        <p:spPr>
          <a:xfrm>
            <a:off x="640080" y="3246120"/>
            <a:ext cx="7863840" cy="320040"/>
          </a:xfrm>
          <a:prstGeom prst="rect">
            <a:avLst/>
          </a:prstGeom>
          <a:noFill/>
          <a:ln/>
        </p:spPr>
        <p:txBody>
          <a:bodyPr wrap="square" lIns="0" tIns="0" rIns="0" bIns="0" rtlCol="0" anchor="ctr"/>
          <a:lstStyle/>
          <a:p>
            <a:pPr indent="0" marL="0">
              <a:buNone/>
            </a:pPr>
            <a:r>
              <a:rPr lang="en-US" sz="1300" b="1" dirty="0">
                <a:solidFill>
                  <a:srgbClr val="D9502B"/>
                </a:solidFill>
                <a:latin typeface="Montserrat" pitchFamily="34" charset="0"/>
                <a:ea typeface="Montserrat" pitchFamily="34" charset="-122"/>
                <a:cs typeface="Montserrat" pitchFamily="34" charset="-120"/>
              </a:rPr>
              <a:t>The sandbox: a sealed room with a camera</a:t>
            </a:r>
            <a:endParaRPr lang="en-US" sz="1300" dirty="0"/>
          </a:p>
        </p:txBody>
      </p:sp>
      <p:sp>
        <p:nvSpPr>
          <p:cNvPr id="29" name="Text 27"/>
          <p:cNvSpPr txBox="1"/>
          <p:nvPr/>
        </p:nvSpPr>
        <p:spPr>
          <a:xfrm>
            <a:off x="640080" y="3657600"/>
            <a:ext cx="1828800" cy="777240"/>
          </a:xfrm>
          <a:prstGeom prst="rect">
            <a:avLst/>
          </a:prstGeom>
          <a:noFill/>
          <a:ln/>
        </p:spPr>
        <p:txBody>
          <a:bodyPr wrap="square" lIns="0" tIns="0" rIns="0" bIns="0" rtlCol="0" anchor="t"/>
          <a:lstStyle/>
          <a:p>
            <a:pPr indent="0" marL="0">
              <a:buNone/>
            </a:pPr>
            <a:r>
              <a:rPr lang="en-US" sz="1150" b="1" dirty="0">
                <a:solidFill>
                  <a:srgbClr val="2B2118"/>
                </a:solidFill>
                <a:latin typeface="Arial" pitchFamily="34" charset="0"/>
                <a:ea typeface="Arial" pitchFamily="34" charset="-122"/>
                <a:cs typeface="Arial" pitchFamily="34" charset="-120"/>
              </a:rPr>
              <a:t>Fresh Docker container</a:t>
            </a:r>
            <a:endParaRPr lang="en-US" sz="1150" dirty="0"/>
          </a:p>
          <a:p>
            <a:pPr indent="0" marL="0">
              <a:buNone/>
            </a:pPr>
            <a:r>
              <a:rPr lang="en-US" sz="1050" dirty="0">
                <a:solidFill>
                  <a:srgbClr val="74665A"/>
                </a:solidFill>
                <a:latin typeface="Arial" pitchFamily="34" charset="0"/>
                <a:ea typeface="Arial" pitchFamily="34" charset="-122"/>
                <a:cs typeface="Arial" pitchFamily="34" charset="-120"/>
              </a:rPr>
              <a:t>per run, deleted after</a:t>
            </a:r>
            <a:endParaRPr lang="en-US" sz="1150" dirty="0"/>
          </a:p>
        </p:txBody>
      </p:sp>
      <p:sp>
        <p:nvSpPr>
          <p:cNvPr id="30" name="Text 28"/>
          <p:cNvSpPr txBox="1"/>
          <p:nvPr/>
        </p:nvSpPr>
        <p:spPr>
          <a:xfrm>
            <a:off x="2624328" y="3657600"/>
            <a:ext cx="1828800" cy="777240"/>
          </a:xfrm>
          <a:prstGeom prst="rect">
            <a:avLst/>
          </a:prstGeom>
          <a:noFill/>
          <a:ln/>
        </p:spPr>
        <p:txBody>
          <a:bodyPr wrap="square" lIns="0" tIns="0" rIns="0" bIns="0" rtlCol="0" anchor="t"/>
          <a:lstStyle/>
          <a:p>
            <a:pPr indent="0" marL="0">
              <a:buNone/>
            </a:pPr>
            <a:r>
              <a:rPr lang="en-US" sz="1150" b="1" dirty="0">
                <a:solidFill>
                  <a:srgbClr val="2B2118"/>
                </a:solidFill>
                <a:latin typeface="Arial" pitchFamily="34" charset="0"/>
                <a:ea typeface="Arial" pitchFamily="34" charset="-122"/>
                <a:cs typeface="Arial" pitchFamily="34" charset="-120"/>
              </a:rPr>
              <a:t>No internet</a:t>
            </a:r>
            <a:endParaRPr lang="en-US" sz="1150" dirty="0"/>
          </a:p>
          <a:p>
            <a:pPr indent="0" marL="0">
              <a:buNone/>
            </a:pPr>
            <a:r>
              <a:rPr lang="en-US" sz="1050" dirty="0">
                <a:solidFill>
                  <a:srgbClr val="74665A"/>
                </a:solidFill>
                <a:latin typeface="Arial" pitchFamily="34" charset="0"/>
                <a:ea typeface="Arial" pitchFamily="34" charset="-122"/>
                <a:cs typeface="Arial" pitchFamily="34" charset="-120"/>
              </a:rPr>
              <a:t>attempts are logged, never reach anyone</a:t>
            </a:r>
            <a:endParaRPr lang="en-US" sz="1150" dirty="0"/>
          </a:p>
        </p:txBody>
      </p:sp>
      <p:sp>
        <p:nvSpPr>
          <p:cNvPr id="31" name="Text 29"/>
          <p:cNvSpPr txBox="1"/>
          <p:nvPr/>
        </p:nvSpPr>
        <p:spPr>
          <a:xfrm>
            <a:off x="4608576" y="3657600"/>
            <a:ext cx="1828800" cy="777240"/>
          </a:xfrm>
          <a:prstGeom prst="rect">
            <a:avLst/>
          </a:prstGeom>
          <a:noFill/>
          <a:ln/>
        </p:spPr>
        <p:txBody>
          <a:bodyPr wrap="square" lIns="0" tIns="0" rIns="0" bIns="0" rtlCol="0" anchor="t"/>
          <a:lstStyle/>
          <a:p>
            <a:pPr indent="0" marL="0">
              <a:buNone/>
            </a:pPr>
            <a:r>
              <a:rPr lang="en-US" sz="1150" b="1" dirty="0">
                <a:solidFill>
                  <a:srgbClr val="2B2118"/>
                </a:solidFill>
                <a:latin typeface="Arial" pitchFamily="34" charset="0"/>
                <a:ea typeface="Arial" pitchFamily="34" charset="-122"/>
                <a:cs typeface="Arial" pitchFamily="34" charset="-120"/>
              </a:rPr>
              <a:t>None of your files</a:t>
            </a:r>
            <a:endParaRPr lang="en-US" sz="1150" dirty="0"/>
          </a:p>
          <a:p>
            <a:pPr indent="0" marL="0">
              <a:buNone/>
            </a:pPr>
            <a:r>
              <a:rPr lang="en-US" sz="1050" dirty="0">
                <a:solidFill>
                  <a:srgbClr val="74665A"/>
                </a:solidFill>
                <a:latin typeface="Arial" pitchFamily="34" charset="0"/>
                <a:ea typeface="Arial" pitchFamily="34" charset="-122"/>
                <a:cs typeface="Arial" pitchFamily="34" charset="-120"/>
              </a:rPr>
              <a:t>read-only, no admin, CPU/memory capped</a:t>
            </a:r>
            <a:endParaRPr lang="en-US" sz="1150" dirty="0"/>
          </a:p>
        </p:txBody>
      </p:sp>
      <p:sp>
        <p:nvSpPr>
          <p:cNvPr id="32" name="Text 30"/>
          <p:cNvSpPr txBox="1"/>
          <p:nvPr/>
        </p:nvSpPr>
        <p:spPr>
          <a:xfrm>
            <a:off x="6592824" y="3657600"/>
            <a:ext cx="1828800" cy="777240"/>
          </a:xfrm>
          <a:prstGeom prst="rect">
            <a:avLst/>
          </a:prstGeom>
          <a:noFill/>
          <a:ln/>
        </p:spPr>
        <p:txBody>
          <a:bodyPr wrap="square" lIns="0" tIns="0" rIns="0" bIns="0" rtlCol="0" anchor="t"/>
          <a:lstStyle/>
          <a:p>
            <a:pPr indent="0" marL="0">
              <a:buNone/>
            </a:pPr>
            <a:r>
              <a:rPr lang="en-US" sz="1150" b="1" dirty="0">
                <a:solidFill>
                  <a:srgbClr val="2B2118"/>
                </a:solidFill>
                <a:latin typeface="Arial" pitchFamily="34" charset="0"/>
                <a:ea typeface="Arial" pitchFamily="34" charset="-122"/>
                <a:cs typeface="Arial" pitchFamily="34" charset="-120"/>
              </a:rPr>
              <a:t>Hook inside Node / Python</a:t>
            </a:r>
            <a:endParaRPr lang="en-US" sz="1150" dirty="0"/>
          </a:p>
          <a:p>
            <a:pPr indent="0" marL="0">
              <a:buNone/>
            </a:pPr>
            <a:r>
              <a:rPr lang="en-US" sz="1050" dirty="0">
                <a:solidFill>
                  <a:srgbClr val="74665A"/>
                </a:solidFill>
                <a:latin typeface="Arial" pitchFamily="34" charset="0"/>
                <a:ea typeface="Arial" pitchFamily="34" charset="-122"/>
                <a:cs typeface="Arial" pitchFamily="34" charset="-120"/>
              </a:rPr>
              <a:t>records connections, files, env reads, programs</a:t>
            </a:r>
            <a:endParaRPr lang="en-US" sz="1150" dirty="0"/>
          </a:p>
        </p:txBody>
      </p:sp>
      <p:sp>
        <p:nvSpPr>
          <p:cNvPr id="33" name="Text 31"/>
          <p:cNvSpPr txBox="1"/>
          <p:nvPr/>
        </p:nvSpPr>
        <p:spPr>
          <a:xfrm>
            <a:off x="457200" y="4709160"/>
            <a:ext cx="6858000" cy="228600"/>
          </a:xfrm>
          <a:prstGeom prst="rect">
            <a:avLst/>
          </a:prstGeom>
          <a:noFill/>
          <a:ln/>
        </p:spPr>
        <p:txBody>
          <a:bodyPr wrap="square" lIns="0" tIns="0" rIns="0" bIns="0" rtlCol="0" anchor="ctr"/>
          <a:lstStyle/>
          <a:p>
            <a:pPr indent="0" marL="0">
              <a:buNone/>
            </a:pPr>
            <a:r>
              <a:rPr lang="en-US" sz="950" dirty="0">
                <a:solidFill>
                  <a:srgbClr val="74665A"/>
                </a:solidFill>
                <a:latin typeface="Arial" pitchFamily="34" charset="0"/>
                <a:ea typeface="Arial" pitchFamily="34" charset="-122"/>
                <a:cs typeface="Arial" pitchFamily="34" charset="-120"/>
              </a:rPr>
              <a:t>Stack: Python + FastAPI · Docker · Node/Python runtime hooks · React UI</a:t>
            </a:r>
            <a:endParaRPr lang="en-US" sz="9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502920"/>
            <a:ext cx="8229600" cy="685800"/>
          </a:xfrm>
          <a:prstGeom prst="rect">
            <a:avLst/>
          </a:prstGeom>
          <a:noFill/>
          <a:ln/>
        </p:spPr>
        <p:txBody>
          <a:bodyPr wrap="square" lIns="0" tIns="0" rIns="0" bIns="0" rtlCol="0" anchor="ctr"/>
          <a:lstStyle/>
          <a:p>
            <a:pPr indent="0" marL="0">
              <a:buNone/>
            </a:pPr>
            <a:r>
              <a:rPr lang="en-US" sz="3200" b="1" dirty="0">
                <a:solidFill>
                  <a:srgbClr val="D9502B"/>
                </a:solidFill>
                <a:latin typeface="Montserrat" pitchFamily="34" charset="0"/>
                <a:ea typeface="Montserrat" pitchFamily="34" charset="-122"/>
                <a:cs typeface="Montserrat" pitchFamily="34" charset="-120"/>
              </a:rPr>
              <a:t>DEMO.</a:t>
            </a:r>
            <a:endParaRPr lang="en-US" sz="3200" dirty="0"/>
          </a:p>
        </p:txBody>
      </p:sp>
      <p:sp>
        <p:nvSpPr>
          <p:cNvPr id="3" name="card"/>
          <p:cNvSpPr/>
          <p:nvPr/>
        </p:nvSpPr>
        <p:spPr>
          <a:xfrm>
            <a:off x="402336" y="1225296"/>
            <a:ext cx="4681728" cy="2681478"/>
          </a:xfrm>
          <a:prstGeom prst="roundRect">
            <a:avLst>
              <a:gd name="adj" fmla="val 2728"/>
            </a:avLst>
          </a:prstGeom>
          <a:solidFill>
            <a:srgbClr val="FFFFFF"/>
          </a:solidFill>
          <a:ln w="9525">
            <a:solidFill>
              <a:srgbClr val="EADCCB"/>
            </a:solidFill>
            <a:prstDash val="solid"/>
          </a:ln>
        </p:spPr>
      </p:sp>
      <p:pic>
        <p:nvPicPr>
          <p:cNvPr id="3" name="dem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280160"/>
            <a:ext cx="4572000" cy="2571750"/>
          </a:xfrm>
          <a:prstGeom prst="rect">
            <a:avLst/>
          </a:prstGeom>
        </p:spPr>
      </p:pic>
      <p:sp>
        <p:nvSpPr>
          <p:cNvPr id="5" name="Text 2"/>
          <p:cNvSpPr txBox="1"/>
          <p:nvPr/>
        </p:nvSpPr>
        <p:spPr>
          <a:xfrm>
            <a:off x="457200" y="4114800"/>
            <a:ext cx="4572000" cy="274320"/>
          </a:xfrm>
          <a:prstGeom prst="rect">
            <a:avLst/>
          </a:prstGeom>
          <a:noFill/>
          <a:ln/>
        </p:spPr>
        <p:txBody>
          <a:bodyPr wrap="square" lIns="0" tIns="0" rIns="0" bIns="0" rtlCol="0" anchor="ctr"/>
          <a:lstStyle/>
          <a:p>
            <a:pPr indent="0" marL="0">
              <a:buNone/>
            </a:pPr>
            <a:r>
              <a:rPr lang="en-US" sz="1000" dirty="0">
                <a:solidFill>
                  <a:srgbClr val="74665A"/>
                </a:solidFill>
                <a:latin typeface="Arial" pitchFamily="34" charset="0"/>
                <a:ea typeface="Arial" pitchFamily="34" charset="-122"/>
                <a:cs typeface="Arial" pitchFamily="34" charset="-120"/>
              </a:rPr>
              <a:t>Click to play the 90-second recorded run · live app at localhost:5173</a:t>
            </a:r>
            <a:endParaRPr lang="en-US" sz="1000" dirty="0"/>
          </a:p>
        </p:txBody>
      </p:sp>
      <p:sp>
        <p:nvSpPr>
          <p:cNvPr id="6" name="Text 3"/>
          <p:cNvSpPr txBox="1"/>
          <p:nvPr/>
        </p:nvSpPr>
        <p:spPr>
          <a:xfrm>
            <a:off x="5303520" y="1280160"/>
            <a:ext cx="3383280" cy="256032"/>
          </a:xfrm>
          <a:prstGeom prst="rect">
            <a:avLst/>
          </a:prstGeom>
          <a:noFill/>
          <a:ln/>
        </p:spPr>
        <p:txBody>
          <a:bodyPr wrap="square" lIns="0" tIns="0" rIns="0" bIns="0" rtlCol="0" anchor="ctr"/>
          <a:lstStyle/>
          <a:p>
            <a:pPr indent="0" marL="0">
              <a:buNone/>
            </a:pPr>
            <a:r>
              <a:rPr lang="en-US" sz="1200" b="1" dirty="0">
                <a:solidFill>
                  <a:srgbClr val="2B2118"/>
                </a:solidFill>
                <a:latin typeface="Arial" pitchFamily="34" charset="0"/>
                <a:ea typeface="Arial" pitchFamily="34" charset="-122"/>
                <a:cs typeface="Arial" pitchFamily="34" charset="-120"/>
              </a:rPr>
              <a:t>pad-clean  </a:t>
            </a:r>
            <a:pPr indent="0" marL="0">
              <a:buNone/>
            </a:pPr>
            <a:r>
              <a:rPr lang="en-US" sz="1200" b="1" dirty="0">
                <a:solidFill>
                  <a:srgbClr val="3B7D4F"/>
                </a:solidFill>
                <a:latin typeface="Arial" pitchFamily="34" charset="0"/>
                <a:ea typeface="Arial" pitchFamily="34" charset="-122"/>
                <a:cs typeface="Arial" pitchFamily="34" charset="-120"/>
              </a:rPr>
              <a:t>fine</a:t>
            </a:r>
            <a:endParaRPr lang="en-US" sz="1200" dirty="0"/>
          </a:p>
        </p:txBody>
      </p:sp>
      <p:sp>
        <p:nvSpPr>
          <p:cNvPr id="7" name="Text 4"/>
          <p:cNvSpPr txBox="1"/>
          <p:nvPr/>
        </p:nvSpPr>
        <p:spPr>
          <a:xfrm>
            <a:off x="5303520" y="1527048"/>
            <a:ext cx="3383280" cy="274320"/>
          </a:xfrm>
          <a:prstGeom prst="rect">
            <a:avLst/>
          </a:prstGeom>
          <a:noFill/>
          <a:ln/>
        </p:spPr>
        <p:txBody>
          <a:bodyPr wrap="square" lIns="0" tIns="0" rIns="0" bIns="0" rtlCol="0" anchor="ctr"/>
          <a:lstStyle/>
          <a:p>
            <a:pPr indent="0" marL="0">
              <a:buNone/>
            </a:pPr>
            <a:r>
              <a:rPr lang="en-US" sz="1050" dirty="0">
                <a:solidFill>
                  <a:srgbClr val="74665A"/>
                </a:solidFill>
                <a:latin typeface="Arial" pitchFamily="34" charset="0"/>
                <a:ea typeface="Arial" pitchFamily="34" charset="-122"/>
                <a:cs typeface="Arial" pitchFamily="34" charset="-120"/>
              </a:rPr>
              <a:t>does nothing, as promised</a:t>
            </a:r>
            <a:endParaRPr lang="en-US" sz="1050" dirty="0"/>
          </a:p>
        </p:txBody>
      </p:sp>
      <p:sp>
        <p:nvSpPr>
          <p:cNvPr id="8" name="Text 5"/>
          <p:cNvSpPr txBox="1"/>
          <p:nvPr/>
        </p:nvSpPr>
        <p:spPr>
          <a:xfrm>
            <a:off x="5303520" y="1883664"/>
            <a:ext cx="3383280" cy="256032"/>
          </a:xfrm>
          <a:prstGeom prst="rect">
            <a:avLst/>
          </a:prstGeom>
          <a:noFill/>
          <a:ln/>
        </p:spPr>
        <p:txBody>
          <a:bodyPr wrap="square" lIns="0" tIns="0" rIns="0" bIns="0" rtlCol="0" anchor="ctr"/>
          <a:lstStyle/>
          <a:p>
            <a:pPr indent="0" marL="0">
              <a:buNone/>
            </a:pPr>
            <a:r>
              <a:rPr lang="en-US" sz="1200" b="1" dirty="0">
                <a:solidFill>
                  <a:srgbClr val="2B2118"/>
                </a:solidFill>
                <a:latin typeface="Arial" pitchFamily="34" charset="0"/>
                <a:ea typeface="Arial" pitchFamily="34" charset="-122"/>
                <a:cs typeface="Arial" pitchFamily="34" charset="-120"/>
              </a:rPr>
              <a:t>http-fetchy  </a:t>
            </a:r>
            <a:pPr indent="0" marL="0">
              <a:buNone/>
            </a:pPr>
            <a:r>
              <a:rPr lang="en-US" sz="1200" b="1" dirty="0">
                <a:solidFill>
                  <a:srgbClr val="C2410C"/>
                </a:solidFill>
                <a:latin typeface="Arial" pitchFamily="34" charset="0"/>
                <a:ea typeface="Arial" pitchFamily="34" charset="-122"/>
                <a:cs typeface="Arial" pitchFamily="34" charset="-120"/>
              </a:rPr>
              <a:t>suspicious</a:t>
            </a:r>
            <a:endParaRPr lang="en-US" sz="1200" dirty="0"/>
          </a:p>
        </p:txBody>
      </p:sp>
      <p:sp>
        <p:nvSpPr>
          <p:cNvPr id="9" name="Text 6"/>
          <p:cNvSpPr txBox="1"/>
          <p:nvPr/>
        </p:nvSpPr>
        <p:spPr>
          <a:xfrm>
            <a:off x="5303520" y="2130552"/>
            <a:ext cx="3383280" cy="274320"/>
          </a:xfrm>
          <a:prstGeom prst="rect">
            <a:avLst/>
          </a:prstGeom>
          <a:noFill/>
          <a:ln/>
        </p:spPr>
        <p:txBody>
          <a:bodyPr wrap="square" lIns="0" tIns="0" rIns="0" bIns="0" rtlCol="0" anchor="ctr"/>
          <a:lstStyle/>
          <a:p>
            <a:pPr indent="0" marL="0">
              <a:buNone/>
            </a:pPr>
            <a:r>
              <a:rPr lang="en-US" sz="1050" dirty="0">
                <a:solidFill>
                  <a:srgbClr val="74665A"/>
                </a:solidFill>
                <a:latin typeface="Arial" pitchFamily="34" charset="0"/>
                <a:ea typeface="Arial" pitchFamily="34" charset="-122"/>
                <a:cs typeface="Arial" pitchFamily="34" charset="-120"/>
              </a:rPr>
              <a:t>calls a server on import, never mentioned</a:t>
            </a:r>
            <a:endParaRPr lang="en-US" sz="1050" dirty="0"/>
          </a:p>
        </p:txBody>
      </p:sp>
      <p:sp>
        <p:nvSpPr>
          <p:cNvPr id="10" name="Text 7"/>
          <p:cNvSpPr txBox="1"/>
          <p:nvPr/>
        </p:nvSpPr>
        <p:spPr>
          <a:xfrm>
            <a:off x="5303520" y="2487168"/>
            <a:ext cx="3383280" cy="256032"/>
          </a:xfrm>
          <a:prstGeom prst="rect">
            <a:avLst/>
          </a:prstGeom>
          <a:noFill/>
          <a:ln/>
        </p:spPr>
        <p:txBody>
          <a:bodyPr wrap="square" lIns="0" tIns="0" rIns="0" bIns="0" rtlCol="0" anchor="ctr"/>
          <a:lstStyle/>
          <a:p>
            <a:pPr indent="0" marL="0">
              <a:buNone/>
            </a:pPr>
            <a:r>
              <a:rPr lang="en-US" sz="1200" b="1" dirty="0">
                <a:solidFill>
                  <a:srgbClr val="2B2118"/>
                </a:solidFill>
                <a:latin typeface="Arial" pitchFamily="34" charset="0"/>
                <a:ea typeface="Arial" pitchFamily="34" charset="-122"/>
                <a:cs typeface="Arial" pitchFamily="34" charset="-120"/>
              </a:rPr>
              <a:t>postinstall-probe  </a:t>
            </a:r>
            <a:pPr indent="0" marL="0">
              <a:buNone/>
            </a:pPr>
            <a:r>
              <a:rPr lang="en-US" sz="1200" b="1" dirty="0">
                <a:solidFill>
                  <a:srgbClr val="C2410C"/>
                </a:solidFill>
                <a:latin typeface="Arial" pitchFamily="34" charset="0"/>
                <a:ea typeface="Arial" pitchFamily="34" charset="-122"/>
                <a:cs typeface="Arial" pitchFamily="34" charset="-120"/>
              </a:rPr>
              <a:t>suspicious</a:t>
            </a:r>
            <a:endParaRPr lang="en-US" sz="1200" dirty="0"/>
          </a:p>
        </p:txBody>
      </p:sp>
      <p:sp>
        <p:nvSpPr>
          <p:cNvPr id="11" name="Text 8"/>
          <p:cNvSpPr txBox="1"/>
          <p:nvPr/>
        </p:nvSpPr>
        <p:spPr>
          <a:xfrm>
            <a:off x="5303520" y="2734056"/>
            <a:ext cx="3383280" cy="274320"/>
          </a:xfrm>
          <a:prstGeom prst="rect">
            <a:avLst/>
          </a:prstGeom>
          <a:noFill/>
          <a:ln/>
        </p:spPr>
        <p:txBody>
          <a:bodyPr wrap="square" lIns="0" tIns="0" rIns="0" bIns="0" rtlCol="0" anchor="ctr"/>
          <a:lstStyle/>
          <a:p>
            <a:pPr indent="0" marL="0">
              <a:buNone/>
            </a:pPr>
            <a:r>
              <a:rPr lang="en-US" sz="1050" dirty="0">
                <a:solidFill>
                  <a:srgbClr val="74665A"/>
                </a:solidFill>
                <a:latin typeface="Arial" pitchFamily="34" charset="0"/>
                <a:ea typeface="Arial" pitchFamily="34" charset="-122"/>
                <a:cs typeface="Arial" pitchFamily="34" charset="-120"/>
              </a:rPr>
              <a:t>runs a program during install</a:t>
            </a:r>
            <a:endParaRPr lang="en-US" sz="1050" dirty="0"/>
          </a:p>
        </p:txBody>
      </p:sp>
      <p:sp>
        <p:nvSpPr>
          <p:cNvPr id="12" name="Text 9"/>
          <p:cNvSpPr txBox="1"/>
          <p:nvPr/>
        </p:nvSpPr>
        <p:spPr>
          <a:xfrm>
            <a:off x="5303520" y="3090672"/>
            <a:ext cx="3383280" cy="256032"/>
          </a:xfrm>
          <a:prstGeom prst="rect">
            <a:avLst/>
          </a:prstGeom>
          <a:noFill/>
          <a:ln/>
        </p:spPr>
        <p:txBody>
          <a:bodyPr wrap="square" lIns="0" tIns="0" rIns="0" bIns="0" rtlCol="0" anchor="ctr"/>
          <a:lstStyle/>
          <a:p>
            <a:pPr indent="0" marL="0">
              <a:buNone/>
            </a:pPr>
            <a:r>
              <a:rPr lang="en-US" sz="1200" b="1" dirty="0">
                <a:solidFill>
                  <a:srgbClr val="2B2118"/>
                </a:solidFill>
                <a:latin typeface="Arial" pitchFamily="34" charset="0"/>
                <a:ea typeface="Arial" pitchFamily="34" charset="-122"/>
                <a:cs typeface="Arial" pitchFamily="34" charset="-120"/>
              </a:rPr>
              <a:t>ci-sleeper  </a:t>
            </a:r>
            <a:pPr indent="0" marL="0">
              <a:buNone/>
            </a:pPr>
            <a:r>
              <a:rPr lang="en-US" sz="1200" b="1" dirty="0">
                <a:solidFill>
                  <a:srgbClr val="B42318"/>
                </a:solidFill>
                <a:latin typeface="Arial" pitchFamily="34" charset="0"/>
                <a:ea typeface="Arial" pitchFamily="34" charset="-122"/>
                <a:cs typeface="Arial" pitchFamily="34" charset="-120"/>
              </a:rPr>
              <a:t>dangerous</a:t>
            </a:r>
            <a:endParaRPr lang="en-US" sz="1200" dirty="0"/>
          </a:p>
        </p:txBody>
      </p:sp>
      <p:sp>
        <p:nvSpPr>
          <p:cNvPr id="13" name="Text 10"/>
          <p:cNvSpPr txBox="1"/>
          <p:nvPr/>
        </p:nvSpPr>
        <p:spPr>
          <a:xfrm>
            <a:off x="5303520" y="3337560"/>
            <a:ext cx="3383280" cy="274320"/>
          </a:xfrm>
          <a:prstGeom prst="rect">
            <a:avLst/>
          </a:prstGeom>
          <a:noFill/>
          <a:ln/>
        </p:spPr>
        <p:txBody>
          <a:bodyPr wrap="square" lIns="0" tIns="0" rIns="0" bIns="0" rtlCol="0" anchor="ctr"/>
          <a:lstStyle/>
          <a:p>
            <a:pPr indent="0" marL="0">
              <a:buNone/>
            </a:pPr>
            <a:r>
              <a:rPr lang="en-US" sz="1050" dirty="0">
                <a:solidFill>
                  <a:srgbClr val="74665A"/>
                </a:solidFill>
                <a:latin typeface="Arial" pitchFamily="34" charset="0"/>
                <a:ea typeface="Arial" pitchFamily="34" charset="-122"/>
                <a:cs typeface="Arial" pitchFamily="34" charset="-120"/>
              </a:rPr>
              <a:t>calls home only in CI; README says “no network”</a:t>
            </a:r>
            <a:endParaRPr lang="en-US" sz="1050" dirty="0"/>
          </a:p>
        </p:txBody>
      </p:sp>
      <p:sp>
        <p:nvSpPr>
          <p:cNvPr id="14" name="Text 11"/>
          <p:cNvSpPr txBox="1"/>
          <p:nvPr/>
        </p:nvSpPr>
        <p:spPr>
          <a:xfrm>
            <a:off x="5303520" y="3694176"/>
            <a:ext cx="3383280" cy="256032"/>
          </a:xfrm>
          <a:prstGeom prst="rect">
            <a:avLst/>
          </a:prstGeom>
          <a:noFill/>
          <a:ln/>
        </p:spPr>
        <p:txBody>
          <a:bodyPr wrap="square" lIns="0" tIns="0" rIns="0" bIns="0" rtlCol="0" anchor="ctr"/>
          <a:lstStyle/>
          <a:p>
            <a:pPr indent="0" marL="0">
              <a:buNone/>
            </a:pPr>
            <a:r>
              <a:rPr lang="en-US" sz="1200" b="1" dirty="0">
                <a:solidFill>
                  <a:srgbClr val="2B2118"/>
                </a:solidFill>
                <a:latin typeface="Arial" pitchFamily="34" charset="0"/>
                <a:ea typeface="Arial" pitchFamily="34" charset="-122"/>
                <a:cs typeface="Arial" pitchFamily="34" charset="-120"/>
              </a:rPr>
              <a:t>py-titlecase  </a:t>
            </a:r>
            <a:pPr indent="0" marL="0">
              <a:buNone/>
            </a:pPr>
            <a:r>
              <a:rPr lang="en-US" sz="1200" b="1" dirty="0">
                <a:solidFill>
                  <a:srgbClr val="B42318"/>
                </a:solidFill>
                <a:latin typeface="Arial" pitchFamily="34" charset="0"/>
                <a:ea typeface="Arial" pitchFamily="34" charset="-122"/>
                <a:cs typeface="Arial" pitchFamily="34" charset="-120"/>
              </a:rPr>
              <a:t>dangerous</a:t>
            </a:r>
            <a:endParaRPr lang="en-US" sz="1200" dirty="0"/>
          </a:p>
        </p:txBody>
      </p:sp>
      <p:sp>
        <p:nvSpPr>
          <p:cNvPr id="15" name="Text 12"/>
          <p:cNvSpPr txBox="1"/>
          <p:nvPr/>
        </p:nvSpPr>
        <p:spPr>
          <a:xfrm>
            <a:off x="5303520" y="3941064"/>
            <a:ext cx="3383280" cy="274320"/>
          </a:xfrm>
          <a:prstGeom prst="rect">
            <a:avLst/>
          </a:prstGeom>
          <a:noFill/>
          <a:ln/>
        </p:spPr>
        <p:txBody>
          <a:bodyPr wrap="square" lIns="0" tIns="0" rIns="0" bIns="0" rtlCol="0" anchor="ctr"/>
          <a:lstStyle/>
          <a:p>
            <a:pPr indent="0" marL="0">
              <a:buNone/>
            </a:pPr>
            <a:r>
              <a:rPr lang="en-US" sz="1050" dirty="0">
                <a:solidFill>
                  <a:srgbClr val="74665A"/>
                </a:solidFill>
                <a:latin typeface="Arial" pitchFamily="34" charset="0"/>
                <a:ea typeface="Arial" pitchFamily="34" charset="-122"/>
                <a:cs typeface="Arial" pitchFamily="34" charset="-120"/>
              </a:rPr>
              <a:t>Python; goes quiet in CI to hide</a:t>
            </a:r>
            <a:endParaRPr lang="en-US" sz="105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502920"/>
            <a:ext cx="8229600" cy="685800"/>
          </a:xfrm>
          <a:prstGeom prst="rect">
            <a:avLst/>
          </a:prstGeom>
          <a:noFill/>
          <a:ln/>
        </p:spPr>
        <p:txBody>
          <a:bodyPr wrap="square" lIns="0" tIns="0" rIns="0" bIns="0" rtlCol="0" anchor="ctr"/>
          <a:lstStyle/>
          <a:p>
            <a:pPr indent="0" marL="0">
              <a:buNone/>
            </a:pPr>
            <a:r>
              <a:rPr lang="en-US" sz="3200" b="1" dirty="0">
                <a:solidFill>
                  <a:srgbClr val="D9502B"/>
                </a:solidFill>
                <a:latin typeface="Montserrat" pitchFamily="34" charset="0"/>
                <a:ea typeface="Montserrat" pitchFamily="34" charset="-122"/>
                <a:cs typeface="Montserrat" pitchFamily="34" charset="-120"/>
              </a:rPr>
              <a:t>RESULTS &amp; LIMITS.</a:t>
            </a:r>
            <a:endParaRPr lang="en-US" sz="3200" dirty="0"/>
          </a:p>
        </p:txBody>
      </p:sp>
      <p:sp>
        <p:nvSpPr>
          <p:cNvPr id="3" name="card"/>
          <p:cNvSpPr/>
          <p:nvPr/>
        </p:nvSpPr>
        <p:spPr>
          <a:xfrm>
            <a:off x="457200" y="1280160"/>
            <a:ext cx="2606040" cy="1371600"/>
          </a:xfrm>
          <a:prstGeom prst="roundRect">
            <a:avLst>
              <a:gd name="adj" fmla="val 5333"/>
            </a:avLst>
          </a:prstGeom>
          <a:solidFill>
            <a:srgbClr val="FFFFFF"/>
          </a:solidFill>
          <a:ln w="9525">
            <a:solidFill>
              <a:srgbClr val="EADCCB"/>
            </a:solidFill>
            <a:prstDash val="solid"/>
          </a:ln>
        </p:spPr>
      </p:sp>
      <p:sp>
        <p:nvSpPr>
          <p:cNvPr id="4" name="Text 2"/>
          <p:cNvSpPr txBox="1"/>
          <p:nvPr/>
        </p:nvSpPr>
        <p:spPr>
          <a:xfrm>
            <a:off x="640080" y="1371600"/>
            <a:ext cx="2240280" cy="685800"/>
          </a:xfrm>
          <a:prstGeom prst="rect">
            <a:avLst/>
          </a:prstGeom>
          <a:noFill/>
          <a:ln/>
        </p:spPr>
        <p:txBody>
          <a:bodyPr wrap="square" lIns="0" tIns="0" rIns="0" bIns="0" rtlCol="0" anchor="ctr"/>
          <a:lstStyle/>
          <a:p>
            <a:pPr indent="0" marL="0">
              <a:buNone/>
            </a:pPr>
            <a:r>
              <a:rPr lang="en-US" sz="3400" b="1" dirty="0">
                <a:solidFill>
                  <a:srgbClr val="D9502B"/>
                </a:solidFill>
                <a:latin typeface="Montserrat" pitchFamily="34" charset="0"/>
                <a:ea typeface="Montserrat" pitchFamily="34" charset="-122"/>
                <a:cs typeface="Montserrat" pitchFamily="34" charset="-120"/>
              </a:rPr>
              <a:t>5 / 5</a:t>
            </a:r>
            <a:endParaRPr lang="en-US" sz="3400" dirty="0"/>
          </a:p>
        </p:txBody>
      </p:sp>
      <p:sp>
        <p:nvSpPr>
          <p:cNvPr id="5" name="Text 3"/>
          <p:cNvSpPr txBox="1"/>
          <p:nvPr/>
        </p:nvSpPr>
        <p:spPr>
          <a:xfrm>
            <a:off x="640080" y="2057400"/>
            <a:ext cx="2240280" cy="548640"/>
          </a:xfrm>
          <a:prstGeom prst="rect">
            <a:avLst/>
          </a:prstGeom>
          <a:noFill/>
          <a:ln/>
        </p:spPr>
        <p:txBody>
          <a:bodyPr wrap="square" lIns="0" tIns="0" rIns="0" bIns="0" rtlCol="0" anchor="t"/>
          <a:lstStyle/>
          <a:p>
            <a:pPr indent="0" marL="0">
              <a:buNone/>
            </a:pPr>
            <a:r>
              <a:rPr lang="en-US" sz="1100" dirty="0">
                <a:solidFill>
                  <a:srgbClr val="2B2118"/>
                </a:solidFill>
                <a:latin typeface="Arial" pitchFamily="34" charset="0"/>
                <a:ea typeface="Arial" pitchFamily="34" charset="-122"/>
                <a:cs typeface="Arial" pitchFamily="34" charset="-120"/>
              </a:rPr>
              <a:t>attack-style test packages flagged, incl. CI-only and evasion</a:t>
            </a:r>
            <a:endParaRPr lang="en-US" sz="1100" dirty="0"/>
          </a:p>
        </p:txBody>
      </p:sp>
      <p:sp>
        <p:nvSpPr>
          <p:cNvPr id="6" name="card"/>
          <p:cNvSpPr/>
          <p:nvPr/>
        </p:nvSpPr>
        <p:spPr>
          <a:xfrm>
            <a:off x="3246120" y="1280160"/>
            <a:ext cx="2606040" cy="1371600"/>
          </a:xfrm>
          <a:prstGeom prst="roundRect">
            <a:avLst>
              <a:gd name="adj" fmla="val 5333"/>
            </a:avLst>
          </a:prstGeom>
          <a:solidFill>
            <a:srgbClr val="FFFFFF"/>
          </a:solidFill>
          <a:ln w="9525">
            <a:solidFill>
              <a:srgbClr val="EADCCB"/>
            </a:solidFill>
            <a:prstDash val="solid"/>
          </a:ln>
        </p:spPr>
      </p:sp>
      <p:sp>
        <p:nvSpPr>
          <p:cNvPr id="7" name="Text 5"/>
          <p:cNvSpPr txBox="1"/>
          <p:nvPr/>
        </p:nvSpPr>
        <p:spPr>
          <a:xfrm>
            <a:off x="3429000" y="1371600"/>
            <a:ext cx="2240280" cy="685800"/>
          </a:xfrm>
          <a:prstGeom prst="rect">
            <a:avLst/>
          </a:prstGeom>
          <a:noFill/>
          <a:ln/>
        </p:spPr>
        <p:txBody>
          <a:bodyPr wrap="square" lIns="0" tIns="0" rIns="0" bIns="0" rtlCol="0" anchor="ctr"/>
          <a:lstStyle/>
          <a:p>
            <a:pPr indent="0" marL="0">
              <a:buNone/>
            </a:pPr>
            <a:r>
              <a:rPr lang="en-US" sz="3400" b="1" dirty="0">
                <a:solidFill>
                  <a:srgbClr val="D9502B"/>
                </a:solidFill>
                <a:latin typeface="Montserrat" pitchFamily="34" charset="0"/>
                <a:ea typeface="Montserrat" pitchFamily="34" charset="-122"/>
                <a:cs typeface="Montserrat" pitchFamily="34" charset="-120"/>
              </a:rPr>
              <a:t>0</a:t>
            </a:r>
            <a:endParaRPr lang="en-US" sz="3400" dirty="0"/>
          </a:p>
        </p:txBody>
      </p:sp>
      <p:sp>
        <p:nvSpPr>
          <p:cNvPr id="8" name="Text 6"/>
          <p:cNvSpPr txBox="1"/>
          <p:nvPr/>
        </p:nvSpPr>
        <p:spPr>
          <a:xfrm>
            <a:off x="3429000" y="2057400"/>
            <a:ext cx="2240280" cy="548640"/>
          </a:xfrm>
          <a:prstGeom prst="rect">
            <a:avLst/>
          </a:prstGeom>
          <a:noFill/>
          <a:ln/>
        </p:spPr>
        <p:txBody>
          <a:bodyPr wrap="square" lIns="0" tIns="0" rIns="0" bIns="0" rtlCol="0" anchor="t"/>
          <a:lstStyle/>
          <a:p>
            <a:pPr indent="0" marL="0">
              <a:buNone/>
            </a:pPr>
            <a:r>
              <a:rPr lang="en-US" sz="1100" dirty="0">
                <a:solidFill>
                  <a:srgbClr val="2B2118"/>
                </a:solidFill>
                <a:latin typeface="Arial" pitchFamily="34" charset="0"/>
                <a:ea typeface="Arial" pitchFamily="34" charset="-122"/>
                <a:cs typeface="Arial" pitchFamily="34" charset="-120"/>
              </a:rPr>
              <a:t>false alarms on 9 real packages (express, axios, requests, dotenv…)</a:t>
            </a:r>
            <a:endParaRPr lang="en-US" sz="1100" dirty="0"/>
          </a:p>
        </p:txBody>
      </p:sp>
      <p:sp>
        <p:nvSpPr>
          <p:cNvPr id="9" name="card"/>
          <p:cNvSpPr/>
          <p:nvPr/>
        </p:nvSpPr>
        <p:spPr>
          <a:xfrm>
            <a:off x="6035040" y="1280160"/>
            <a:ext cx="2606040" cy="1371600"/>
          </a:xfrm>
          <a:prstGeom prst="roundRect">
            <a:avLst>
              <a:gd name="adj" fmla="val 5333"/>
            </a:avLst>
          </a:prstGeom>
          <a:solidFill>
            <a:srgbClr val="FFFFFF"/>
          </a:solidFill>
          <a:ln w="9525">
            <a:solidFill>
              <a:srgbClr val="EADCCB"/>
            </a:solidFill>
            <a:prstDash val="solid"/>
          </a:ln>
        </p:spPr>
      </p:sp>
      <p:sp>
        <p:nvSpPr>
          <p:cNvPr id="10" name="Text 8"/>
          <p:cNvSpPr txBox="1"/>
          <p:nvPr/>
        </p:nvSpPr>
        <p:spPr>
          <a:xfrm>
            <a:off x="6217920" y="1371600"/>
            <a:ext cx="2240280" cy="685800"/>
          </a:xfrm>
          <a:prstGeom prst="rect">
            <a:avLst/>
          </a:prstGeom>
          <a:noFill/>
          <a:ln/>
        </p:spPr>
        <p:txBody>
          <a:bodyPr wrap="square" lIns="0" tIns="0" rIns="0" bIns="0" rtlCol="0" anchor="ctr"/>
          <a:lstStyle/>
          <a:p>
            <a:pPr indent="0" marL="0">
              <a:buNone/>
            </a:pPr>
            <a:r>
              <a:rPr lang="en-US" sz="3400" b="1" dirty="0">
                <a:solidFill>
                  <a:srgbClr val="D9502B"/>
                </a:solidFill>
                <a:latin typeface="Montserrat" pitchFamily="34" charset="0"/>
                <a:ea typeface="Montserrat" pitchFamily="34" charset="-122"/>
                <a:cs typeface="Montserrat" pitchFamily="34" charset="-120"/>
              </a:rPr>
              <a:t>~1 min</a:t>
            </a:r>
            <a:endParaRPr lang="en-US" sz="3400" dirty="0"/>
          </a:p>
        </p:txBody>
      </p:sp>
      <p:sp>
        <p:nvSpPr>
          <p:cNvPr id="11" name="Text 9"/>
          <p:cNvSpPr txBox="1"/>
          <p:nvPr/>
        </p:nvSpPr>
        <p:spPr>
          <a:xfrm>
            <a:off x="6217920" y="2057400"/>
            <a:ext cx="2240280" cy="548640"/>
          </a:xfrm>
          <a:prstGeom prst="rect">
            <a:avLst/>
          </a:prstGeom>
          <a:noFill/>
          <a:ln/>
        </p:spPr>
        <p:txBody>
          <a:bodyPr wrap="square" lIns="0" tIns="0" rIns="0" bIns="0" rtlCol="0" anchor="t"/>
          <a:lstStyle/>
          <a:p>
            <a:pPr indent="0" marL="0">
              <a:buNone/>
            </a:pPr>
            <a:r>
              <a:rPr lang="en-US" sz="1100" dirty="0">
                <a:solidFill>
                  <a:srgbClr val="2B2118"/>
                </a:solidFill>
                <a:latin typeface="Arial" pitchFamily="34" charset="0"/>
                <a:ea typeface="Arial" pitchFamily="34" charset="-122"/>
                <a:cs typeface="Arial" pitchFamily="34" charset="-120"/>
              </a:rPr>
              <a:t>per full scan, 5 runs, even with 69 dependencies</a:t>
            </a:r>
            <a:endParaRPr lang="en-US" sz="1100" dirty="0"/>
          </a:p>
        </p:txBody>
      </p:sp>
      <p:sp>
        <p:nvSpPr>
          <p:cNvPr id="12" name="Text 10"/>
          <p:cNvSpPr txBox="1"/>
          <p:nvPr/>
        </p:nvSpPr>
        <p:spPr>
          <a:xfrm>
            <a:off x="457200" y="2880360"/>
            <a:ext cx="3657600" cy="320040"/>
          </a:xfrm>
          <a:prstGeom prst="rect">
            <a:avLst/>
          </a:prstGeom>
          <a:noFill/>
          <a:ln/>
        </p:spPr>
        <p:txBody>
          <a:bodyPr wrap="square" lIns="0" tIns="0" rIns="0" bIns="0" rtlCol="0" anchor="ctr"/>
          <a:lstStyle/>
          <a:p>
            <a:pPr indent="0" marL="0">
              <a:buNone/>
            </a:pPr>
            <a:r>
              <a:rPr lang="en-US" sz="1400" b="1" dirty="0">
                <a:solidFill>
                  <a:srgbClr val="2B2118"/>
                </a:solidFill>
                <a:latin typeface="Montserrat" pitchFamily="34" charset="0"/>
                <a:ea typeface="Montserrat" pitchFamily="34" charset="-122"/>
                <a:cs typeface="Montserrat" pitchFamily="34" charset="-120"/>
              </a:rPr>
              <a:t>Honest gaps</a:t>
            </a:r>
            <a:endParaRPr lang="en-US" sz="1400" dirty="0"/>
          </a:p>
        </p:txBody>
      </p:sp>
      <p:sp>
        <p:nvSpPr>
          <p:cNvPr id="13" name="Text 11"/>
          <p:cNvSpPr txBox="1"/>
          <p:nvPr/>
        </p:nvSpPr>
        <p:spPr>
          <a:xfrm>
            <a:off x="457200" y="324612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74665A"/>
                </a:solidFill>
                <a:latin typeface="Arial" pitchFamily="34" charset="0"/>
                <a:ea typeface="Arial" pitchFamily="34" charset="-122"/>
                <a:cs typeface="Arial" pitchFamily="34" charset="-120"/>
              </a:rPr>
              <a:t>Sees what happens inside Node/Python, not inside native binaries it starts</a:t>
            </a:r>
            <a:endParaRPr lang="en-US" sz="1200" dirty="0"/>
          </a:p>
          <a:p>
            <a:pPr marL="342900" indent="-342900">
              <a:spcAft>
                <a:spcPts val="400"/>
              </a:spcAft>
              <a:buSzPct val="100000"/>
              <a:buChar char="•"/>
            </a:pPr>
            <a:r>
              <a:rPr lang="en-US" sz="1200" dirty="0">
                <a:solidFill>
                  <a:srgbClr val="74665A"/>
                </a:solidFill>
                <a:latin typeface="Arial" pitchFamily="34" charset="0"/>
                <a:ea typeface="Arial" pitchFamily="34" charset="-122"/>
                <a:cs typeface="Arial" pitchFamily="34" charset="-120"/>
              </a:rPr>
              <a:t>No internet in the sandbox: we see where it tries to send data, not what</a:t>
            </a:r>
            <a:endParaRPr lang="en-US" sz="1200" dirty="0"/>
          </a:p>
          <a:p>
            <a:pPr marL="342900" indent="-342900">
              <a:spcAft>
                <a:spcPts val="400"/>
              </a:spcAft>
              <a:buSzPct val="100000"/>
              <a:buChar char="•"/>
            </a:pPr>
            <a:r>
              <a:rPr lang="en-US" sz="1200" dirty="0">
                <a:solidFill>
                  <a:srgbClr val="74665A"/>
                </a:solidFill>
                <a:latin typeface="Arial" pitchFamily="34" charset="0"/>
                <a:ea typeface="Arial" pitchFamily="34" charset="-122"/>
                <a:cs typeface="Arial" pitchFamily="34" charset="-120"/>
              </a:rPr>
              <a:t>Short runs (seconds) and README examples only, so rare code paths can hide</a:t>
            </a:r>
            <a:endParaRPr lang="en-US" sz="1200" dirty="0"/>
          </a:p>
          <a:p>
            <a:pPr marL="342900" indent="-342900">
              <a:spcAft>
                <a:spcPts val="400"/>
              </a:spcAft>
              <a:buSzPct val="100000"/>
              <a:buChar char="•"/>
            </a:pPr>
            <a:r>
              <a:rPr lang="en-US" sz="1200" dirty="0">
                <a:solidFill>
                  <a:srgbClr val="74665A"/>
                </a:solidFill>
                <a:latin typeface="Arial" pitchFamily="34" charset="0"/>
                <a:ea typeface="Arial" pitchFamily="34" charset="-122"/>
                <a:cs typeface="Arial" pitchFamily="34" charset="-120"/>
              </a:rPr>
              <a:t>README reading is rule-based, so unusual wording can be missed</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ube"/>
          <p:cNvSpPr/>
          <p:nvPr/>
        </p:nvSpPr>
        <p:spPr>
          <a:xfrm rot="5400000">
            <a:off x="6766560" y="2651760"/>
            <a:ext cx="685800" cy="596646"/>
          </a:xfrm>
          <a:prstGeom prst="hexagon">
            <a:avLst/>
          </a:prstGeom>
          <a:ln w="9525">
            <a:solidFill>
              <a:srgbClr val="EFD8C9"/>
            </a:solidFill>
            <a:prstDash val="solid"/>
          </a:ln>
        </p:spPr>
      </p:sp>
      <p:sp>
        <p:nvSpPr>
          <p:cNvPr id="3" name="cube"/>
          <p:cNvSpPr/>
          <p:nvPr/>
        </p:nvSpPr>
        <p:spPr>
          <a:xfrm rot="5400000">
            <a:off x="7363206" y="2994660"/>
            <a:ext cx="685800" cy="596646"/>
          </a:xfrm>
          <a:prstGeom prst="hexagon">
            <a:avLst/>
          </a:prstGeom>
          <a:ln w="9525">
            <a:solidFill>
              <a:srgbClr val="EFD8C9"/>
            </a:solidFill>
            <a:prstDash val="solid"/>
          </a:ln>
        </p:spPr>
      </p:sp>
      <p:sp>
        <p:nvSpPr>
          <p:cNvPr id="4" name="cube"/>
          <p:cNvSpPr/>
          <p:nvPr/>
        </p:nvSpPr>
        <p:spPr>
          <a:xfrm rot="5400000">
            <a:off x="6766560" y="3337560"/>
            <a:ext cx="685800" cy="596646"/>
          </a:xfrm>
          <a:prstGeom prst="hexagon">
            <a:avLst/>
          </a:prstGeom>
          <a:ln w="9525">
            <a:solidFill>
              <a:srgbClr val="EFD8C9"/>
            </a:solidFill>
            <a:prstDash val="solid"/>
          </a:ln>
        </p:spPr>
      </p:sp>
      <p:sp>
        <p:nvSpPr>
          <p:cNvPr id="5" name="cube"/>
          <p:cNvSpPr/>
          <p:nvPr/>
        </p:nvSpPr>
        <p:spPr>
          <a:xfrm rot="5400000">
            <a:off x="7363206" y="3680460"/>
            <a:ext cx="685800" cy="596646"/>
          </a:xfrm>
          <a:prstGeom prst="hexagon">
            <a:avLst/>
          </a:prstGeom>
          <a:ln w="9525">
            <a:solidFill>
              <a:srgbClr val="EFD8C9"/>
            </a:solidFill>
            <a:prstDash val="solid"/>
          </a:ln>
        </p:spPr>
      </p:sp>
      <p:sp>
        <p:nvSpPr>
          <p:cNvPr id="6" name="title"/>
          <p:cNvSpPr txBox="1"/>
          <p:nvPr/>
        </p:nvSpPr>
        <p:spPr>
          <a:xfrm>
            <a:off x="457200" y="502920"/>
            <a:ext cx="8229600" cy="685800"/>
          </a:xfrm>
          <a:prstGeom prst="rect">
            <a:avLst/>
          </a:prstGeom>
          <a:noFill/>
          <a:ln/>
        </p:spPr>
        <p:txBody>
          <a:bodyPr wrap="square" lIns="0" tIns="0" rIns="0" bIns="0" rtlCol="0" anchor="ctr"/>
          <a:lstStyle/>
          <a:p>
            <a:pPr indent="0" marL="0">
              <a:buNone/>
            </a:pPr>
            <a:r>
              <a:rPr lang="en-US" sz="3200" b="1" dirty="0">
                <a:solidFill>
                  <a:srgbClr val="D9502B"/>
                </a:solidFill>
                <a:latin typeface="Montserrat" pitchFamily="34" charset="0"/>
                <a:ea typeface="Montserrat" pitchFamily="34" charset="-122"/>
                <a:cs typeface="Montserrat" pitchFamily="34" charset="-120"/>
              </a:rPr>
              <a:t>NEXT STEPS.</a:t>
            </a:r>
            <a:endParaRPr lang="en-US" sz="3200" dirty="0"/>
          </a:p>
        </p:txBody>
      </p:sp>
      <p:sp>
        <p:nvSpPr>
          <p:cNvPr id="7" name="Shape 5"/>
          <p:cNvSpPr/>
          <p:nvPr/>
        </p:nvSpPr>
        <p:spPr>
          <a:xfrm>
            <a:off x="457200" y="1325880"/>
            <a:ext cx="365760" cy="365760"/>
          </a:xfrm>
          <a:prstGeom prst="ellipse">
            <a:avLst/>
          </a:prstGeom>
          <a:solidFill>
            <a:srgbClr val="D9502B"/>
          </a:solidFill>
          <a:ln w="12700">
            <a:solidFill>
              <a:srgbClr val="D9502B"/>
            </a:solidFill>
            <a:prstDash val="solid"/>
          </a:ln>
        </p:spPr>
      </p:sp>
      <p:sp>
        <p:nvSpPr>
          <p:cNvPr id="8" name="Text 6"/>
          <p:cNvSpPr txBox="1"/>
          <p:nvPr/>
        </p:nvSpPr>
        <p:spPr>
          <a:xfrm>
            <a:off x="457200" y="1325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9" name="Text 7"/>
          <p:cNvSpPr txBox="1"/>
          <p:nvPr/>
        </p:nvSpPr>
        <p:spPr>
          <a:xfrm>
            <a:off x="1005840" y="1280160"/>
            <a:ext cx="5120640" cy="548640"/>
          </a:xfrm>
          <a:prstGeom prst="rect">
            <a:avLst/>
          </a:prstGeom>
          <a:noFill/>
          <a:ln/>
        </p:spPr>
        <p:txBody>
          <a:bodyPr wrap="square" lIns="0" tIns="0" rIns="0" bIns="0" rtlCol="0" anchor="t"/>
          <a:lstStyle/>
          <a:p>
            <a:pPr indent="0" marL="0">
              <a:buNone/>
            </a:pPr>
            <a:r>
              <a:rPr lang="en-US" sz="1400" b="1" dirty="0">
                <a:solidFill>
                  <a:srgbClr val="2B2118"/>
                </a:solidFill>
                <a:latin typeface="Arial" pitchFamily="34" charset="0"/>
                <a:ea typeface="Arial" pitchFamily="34" charset="-122"/>
                <a:cs typeface="Arial" pitchFamily="34" charset="-120"/>
              </a:rPr>
              <a:t>System-level tracing</a:t>
            </a:r>
            <a:endParaRPr lang="en-US" sz="1400" dirty="0"/>
          </a:p>
          <a:p>
            <a:pPr indent="0" marL="0">
              <a:buNone/>
            </a:pPr>
            <a:r>
              <a:rPr lang="en-US" sz="1150" dirty="0">
                <a:solidFill>
                  <a:srgbClr val="74665A"/>
                </a:solidFill>
                <a:latin typeface="Arial" pitchFamily="34" charset="0"/>
                <a:ea typeface="Arial" pitchFamily="34" charset="-122"/>
                <a:cs typeface="Arial" pitchFamily="34" charset="-120"/>
              </a:rPr>
              <a:t>strace / eBPF to see native binaries too</a:t>
            </a:r>
            <a:endParaRPr lang="en-US" sz="1400" dirty="0"/>
          </a:p>
        </p:txBody>
      </p:sp>
      <p:sp>
        <p:nvSpPr>
          <p:cNvPr id="10" name="Shape 8"/>
          <p:cNvSpPr/>
          <p:nvPr/>
        </p:nvSpPr>
        <p:spPr>
          <a:xfrm>
            <a:off x="457200" y="1984248"/>
            <a:ext cx="365760" cy="365760"/>
          </a:xfrm>
          <a:prstGeom prst="ellipse">
            <a:avLst/>
          </a:prstGeom>
          <a:solidFill>
            <a:srgbClr val="D9502B"/>
          </a:solidFill>
          <a:ln w="12700">
            <a:solidFill>
              <a:srgbClr val="D9502B"/>
            </a:solidFill>
            <a:prstDash val="solid"/>
          </a:ln>
        </p:spPr>
      </p:sp>
      <p:sp>
        <p:nvSpPr>
          <p:cNvPr id="11" name="Text 9"/>
          <p:cNvSpPr txBox="1"/>
          <p:nvPr/>
        </p:nvSpPr>
        <p:spPr>
          <a:xfrm>
            <a:off x="457200" y="1984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2" name="Text 10"/>
          <p:cNvSpPr txBox="1"/>
          <p:nvPr/>
        </p:nvSpPr>
        <p:spPr>
          <a:xfrm>
            <a:off x="1005840" y="1938528"/>
            <a:ext cx="5120640" cy="548640"/>
          </a:xfrm>
          <a:prstGeom prst="rect">
            <a:avLst/>
          </a:prstGeom>
          <a:noFill/>
          <a:ln/>
        </p:spPr>
        <p:txBody>
          <a:bodyPr wrap="square" lIns="0" tIns="0" rIns="0" bIns="0" rtlCol="0" anchor="t"/>
          <a:lstStyle/>
          <a:p>
            <a:pPr indent="0" marL="0">
              <a:buNone/>
            </a:pPr>
            <a:r>
              <a:rPr lang="en-US" sz="1400" b="1" dirty="0">
                <a:solidFill>
                  <a:srgbClr val="2B2118"/>
                </a:solidFill>
                <a:latin typeface="Arial" pitchFamily="34" charset="0"/>
                <a:ea typeface="Arial" pitchFamily="34" charset="-122"/>
                <a:cs typeface="Arial" pitchFamily="34" charset="-120"/>
              </a:rPr>
              <a:t>Fake internet</a:t>
            </a:r>
            <a:endParaRPr lang="en-US" sz="1400" dirty="0"/>
          </a:p>
          <a:p>
            <a:pPr indent="0" marL="0">
              <a:buNone/>
            </a:pPr>
            <a:r>
              <a:rPr lang="en-US" sz="1150" dirty="0">
                <a:solidFill>
                  <a:srgbClr val="74665A"/>
                </a:solidFill>
                <a:latin typeface="Arial" pitchFamily="34" charset="0"/>
                <a:ea typeface="Arial" pitchFamily="34" charset="-122"/>
                <a:cs typeface="Arial" pitchFamily="34" charset="-120"/>
              </a:rPr>
              <a:t>a safe sink that shows what data a package tries to send</a:t>
            </a:r>
            <a:endParaRPr lang="en-US" sz="1400" dirty="0"/>
          </a:p>
        </p:txBody>
      </p:sp>
      <p:sp>
        <p:nvSpPr>
          <p:cNvPr id="13" name="Shape 11"/>
          <p:cNvSpPr/>
          <p:nvPr/>
        </p:nvSpPr>
        <p:spPr>
          <a:xfrm>
            <a:off x="457200" y="2642616"/>
            <a:ext cx="365760" cy="365760"/>
          </a:xfrm>
          <a:prstGeom prst="ellipse">
            <a:avLst/>
          </a:prstGeom>
          <a:solidFill>
            <a:srgbClr val="D9502B"/>
          </a:solidFill>
          <a:ln w="12700">
            <a:solidFill>
              <a:srgbClr val="D9502B"/>
            </a:solidFill>
            <a:prstDash val="solid"/>
          </a:ln>
        </p:spPr>
      </p:sp>
      <p:sp>
        <p:nvSpPr>
          <p:cNvPr id="14" name="Text 12"/>
          <p:cNvSpPr txBox="1"/>
          <p:nvPr/>
        </p:nvSpPr>
        <p:spPr>
          <a:xfrm>
            <a:off x="457200" y="2642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15" name="Text 13"/>
          <p:cNvSpPr txBox="1"/>
          <p:nvPr/>
        </p:nvSpPr>
        <p:spPr>
          <a:xfrm>
            <a:off x="1005840" y="2596896"/>
            <a:ext cx="5120640" cy="548640"/>
          </a:xfrm>
          <a:prstGeom prst="rect">
            <a:avLst/>
          </a:prstGeom>
          <a:noFill/>
          <a:ln/>
        </p:spPr>
        <p:txBody>
          <a:bodyPr wrap="square" lIns="0" tIns="0" rIns="0" bIns="0" rtlCol="0" anchor="t"/>
          <a:lstStyle/>
          <a:p>
            <a:pPr indent="0" marL="0">
              <a:buNone/>
            </a:pPr>
            <a:r>
              <a:rPr lang="en-US" sz="1400" b="1" dirty="0">
                <a:solidFill>
                  <a:srgbClr val="2B2118"/>
                </a:solidFill>
                <a:latin typeface="Arial" pitchFamily="34" charset="0"/>
                <a:ea typeface="Arial" pitchFamily="34" charset="-122"/>
                <a:cs typeface="Arial" pitchFamily="34" charset="-120"/>
              </a:rPr>
              <a:t>Smarter README reading</a:t>
            </a:r>
            <a:endParaRPr lang="en-US" sz="1400" dirty="0"/>
          </a:p>
          <a:p>
            <a:pPr indent="0" marL="0">
              <a:buNone/>
            </a:pPr>
            <a:r>
              <a:rPr lang="en-US" sz="1150" dirty="0">
                <a:solidFill>
                  <a:srgbClr val="74665A"/>
                </a:solidFill>
                <a:latin typeface="Arial" pitchFamily="34" charset="0"/>
                <a:ea typeface="Arial" pitchFamily="34" charset="-122"/>
                <a:cs typeface="Arial" pitchFamily="34" charset="-120"/>
              </a:rPr>
              <a:t>an LLM pass for wording rules miss (never the verdict)</a:t>
            </a:r>
            <a:endParaRPr lang="en-US" sz="1400" dirty="0"/>
          </a:p>
        </p:txBody>
      </p:sp>
      <p:sp>
        <p:nvSpPr>
          <p:cNvPr id="16" name="Shape 14"/>
          <p:cNvSpPr/>
          <p:nvPr/>
        </p:nvSpPr>
        <p:spPr>
          <a:xfrm>
            <a:off x="457200" y="3300984"/>
            <a:ext cx="365760" cy="365760"/>
          </a:xfrm>
          <a:prstGeom prst="ellipse">
            <a:avLst/>
          </a:prstGeom>
          <a:solidFill>
            <a:srgbClr val="D9502B"/>
          </a:solidFill>
          <a:ln w="12700">
            <a:solidFill>
              <a:srgbClr val="D9502B"/>
            </a:solidFill>
            <a:prstDash val="solid"/>
          </a:ln>
        </p:spPr>
      </p:sp>
      <p:sp>
        <p:nvSpPr>
          <p:cNvPr id="17" name="Text 15"/>
          <p:cNvSpPr txBox="1"/>
          <p:nvPr/>
        </p:nvSpPr>
        <p:spPr>
          <a:xfrm>
            <a:off x="457200" y="3300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18" name="Text 16"/>
          <p:cNvSpPr txBox="1"/>
          <p:nvPr/>
        </p:nvSpPr>
        <p:spPr>
          <a:xfrm>
            <a:off x="1005840" y="3255264"/>
            <a:ext cx="5120640" cy="548640"/>
          </a:xfrm>
          <a:prstGeom prst="rect">
            <a:avLst/>
          </a:prstGeom>
          <a:noFill/>
          <a:ln/>
        </p:spPr>
        <p:txBody>
          <a:bodyPr wrap="square" lIns="0" tIns="0" rIns="0" bIns="0" rtlCol="0" anchor="t"/>
          <a:lstStyle/>
          <a:p>
            <a:pPr indent="0" marL="0">
              <a:buNone/>
            </a:pPr>
            <a:r>
              <a:rPr lang="en-US" sz="1400" b="1" dirty="0">
                <a:solidFill>
                  <a:srgbClr val="2B2118"/>
                </a:solidFill>
                <a:latin typeface="Arial" pitchFamily="34" charset="0"/>
                <a:ea typeface="Arial" pitchFamily="34" charset="-122"/>
                <a:cs typeface="Arial" pitchFamily="34" charset="-120"/>
              </a:rPr>
              <a:t>Pre-install guard</a:t>
            </a:r>
            <a:endParaRPr lang="en-US" sz="1400" dirty="0"/>
          </a:p>
          <a:p>
            <a:pPr indent="0" marL="0">
              <a:buNone/>
            </a:pPr>
            <a:r>
              <a:rPr lang="en-US" sz="1150" dirty="0">
                <a:solidFill>
                  <a:srgbClr val="74665A"/>
                </a:solidFill>
                <a:latin typeface="Arial" pitchFamily="34" charset="0"/>
                <a:ea typeface="Arial" pitchFamily="34" charset="-122"/>
                <a:cs typeface="Arial" pitchFamily="34" charset="-120"/>
              </a:rPr>
              <a:t>GitHub Action / npm hook that scans before install</a:t>
            </a:r>
            <a:endParaRPr lang="en-US" sz="1400" dirty="0"/>
          </a:p>
        </p:txBody>
      </p:sp>
      <p:sp>
        <p:nvSpPr>
          <p:cNvPr id="19" name="card"/>
          <p:cNvSpPr/>
          <p:nvPr/>
        </p:nvSpPr>
        <p:spPr>
          <a:xfrm>
            <a:off x="457200" y="4023360"/>
            <a:ext cx="5669280" cy="548640"/>
          </a:xfrm>
          <a:prstGeom prst="roundRect">
            <a:avLst>
              <a:gd name="adj" fmla="val 13333"/>
            </a:avLst>
          </a:prstGeom>
          <a:solidFill>
            <a:srgbClr val="FBE3D6"/>
          </a:solidFill>
          <a:ln w="9525">
            <a:solidFill>
              <a:srgbClr val="EADCCB"/>
            </a:solidFill>
            <a:prstDash val="solid"/>
          </a:ln>
        </p:spPr>
      </p:sp>
      <p:sp>
        <p:nvSpPr>
          <p:cNvPr id="20" name="Text 18"/>
          <p:cNvSpPr txBox="1"/>
          <p:nvPr/>
        </p:nvSpPr>
        <p:spPr>
          <a:xfrm>
            <a:off x="640080" y="4069080"/>
            <a:ext cx="5394960" cy="457200"/>
          </a:xfrm>
          <a:prstGeom prst="rect">
            <a:avLst/>
          </a:prstGeom>
          <a:noFill/>
          <a:ln/>
        </p:spPr>
        <p:txBody>
          <a:bodyPr wrap="square" lIns="0" tIns="0" rIns="0" bIns="0" rtlCol="0" anchor="ctr"/>
          <a:lstStyle/>
          <a:p>
            <a:pPr indent="0" marL="0">
              <a:buNone/>
            </a:pPr>
            <a:r>
              <a:rPr lang="en-US" sz="1300" b="1" dirty="0">
                <a:solidFill>
                  <a:srgbClr val="D9502B"/>
                </a:solidFill>
                <a:latin typeface="Arial" pitchFamily="34" charset="0"/>
                <a:ea typeface="Arial" pitchFamily="34" charset="-122"/>
                <a:cs typeface="Arial" pitchFamily="34" charset="-120"/>
              </a:rPr>
              <a:t>GitHub: </a:t>
            </a:r>
            <a:pPr indent="0" marL="0">
              <a:buNone/>
            </a:pPr>
            <a:r>
              <a:rPr lang="en-US" sz="1300" dirty="0">
                <a:solidFill>
                  <a:srgbClr val="2B2118"/>
                </a:solidFill>
                <a:latin typeface="Arial" pitchFamily="34" charset="0"/>
                <a:ea typeface="Arial" pitchFamily="34" charset="-122"/>
                <a:cs typeface="Arial" pitchFamily="34" charset="-120"/>
              </a:rPr>
              <a:t>[github.com/your-team/trustlens]</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4665A"/>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TrustLens</dc:title>
  <dc:subject>PptxGenJS Presentation</dc:subject>
  <dc:creator>PptxGenJS</dc:creator>
  <cp:lastModifiedBy>PptxGenJS</cp:lastModifiedBy>
  <cp:revision>1</cp:revision>
  <dcterms:created xsi:type="dcterms:W3CDTF">2026-10-27T10:02:33Z</dcterms:created>
  <dcterms:modified xsi:type="dcterms:W3CDTF">2026-10-27T10:02:33Z</dcterms:modified>
</cp:coreProperties>
</file>